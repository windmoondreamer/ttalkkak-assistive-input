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7E9FA"/>
          </a:solidFill>
          <a:ln w="12700">
            <a:solidFill>
              <a:srgbClr val="D7E9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A93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 ·  ‘컴퓨터 및 전자기기 접근성 보조기기’ 부문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615184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신청서 수정 사항 보고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52958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손의 잔존 손가락 움직임으로 키보드와 마우스를 통합 제어하는 고정형 입력장치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133088"/>
            <a:ext cx="3657600" cy="18288"/>
          </a:xfrm>
          <a:prstGeom prst="rect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708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 딸깍   ·   김민섭 · 윤홍민 · 장재원 · 김예진   ·   동국대 전자전기공학부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원본 참가신청서 대비 변경 내용 및 설계 심화 정리 · 2026.08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7FD"/>
          </a:solidFill>
          <a:ln w="12700">
            <a:solidFill>
              <a:srgbClr val="F1F7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A93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무엇이 달라졌는가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대상 사용자 범위와 사용 환경을 재정의하고, 컨셉·페르소나·하드웨어 구조를 함께 조정했습니다.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D6E6F5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3A7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365367" y="1600200"/>
            <a:ext cx="9144" cy="4709160"/>
          </a:xfrm>
          <a:prstGeom prst="rect">
            <a:avLst/>
          </a:prstGeom>
          <a:solidFill>
            <a:srgbClr val="D6E6F5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00200"/>
            <a:ext cx="57847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변경된 네 가지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6515" y="1600200"/>
            <a:ext cx="52337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변경하지 않은 전제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9384"/>
            <a:ext cx="5784723" cy="966978"/>
          </a:xfrm>
          <a:prstGeom prst="roundRect">
            <a:avLst>
              <a:gd name="adj" fmla="val 151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8FB4D8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2048256"/>
            <a:ext cx="274320" cy="274320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1031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33856" y="2075688"/>
            <a:ext cx="49983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컨셉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" y="2386584"/>
            <a:ext cx="538238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이동식 하이브리드 입력장치 → 손이 놓이는 위치에 고정되는 고정형 입력장치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969514"/>
            <a:ext cx="5784723" cy="966978"/>
          </a:xfrm>
          <a:prstGeom prst="roundRect">
            <a:avLst>
              <a:gd name="adj" fmla="val 151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612900000" dist="322580000" dir="324000000000">
              <a:srgbClr val="8FB4D8">
                <a:alpha val="30000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3088386"/>
            <a:ext cx="274320" cy="274320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14325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33856" y="3115818"/>
            <a:ext cx="49983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 정의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9808" y="3426714"/>
            <a:ext cx="538238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대상 확장 — 신경근육질환·척수손상 등 침대 사용 환경 추가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4009644"/>
            <a:ext cx="5784723" cy="966978"/>
          </a:xfrm>
          <a:prstGeom prst="roundRect">
            <a:avLst>
              <a:gd name="adj" fmla="val 151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0483830000000" dist="4096766000000" dir="19440000000000000">
              <a:srgbClr val="8FB4D8">
                <a:alpha val="30000000000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4128516"/>
            <a:ext cx="274320" cy="274320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41833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33856" y="4155948"/>
            <a:ext cx="49983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페르소나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9808" y="4466844"/>
            <a:ext cx="538238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뇌졸중 편마비 사무직(47세) → 신경근육질환 재택 근무자(35세), 침대 환경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5049774"/>
            <a:ext cx="5784723" cy="966978"/>
          </a:xfrm>
          <a:prstGeom prst="roundRect">
            <a:avLst>
              <a:gd name="adj" fmla="val 151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60144641000000000" dist="52028928200000000" dir="1.1664e+21">
              <a:srgbClr val="8FB4D8">
                <a:alpha val="3000000000000000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9808" y="5168646"/>
            <a:ext cx="274320" cy="274320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22351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33856" y="5196078"/>
            <a:ext cx="49983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하드웨어 설계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9808" y="5506974"/>
            <a:ext cx="538238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지지부·BANK 전환 구조 신설, 제어부를 Seeed XIAO nRF52840 Plus로 변경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6515" y="1929384"/>
            <a:ext cx="5233797" cy="966978"/>
          </a:xfrm>
          <a:prstGeom prst="roundRect">
            <a:avLst>
              <a:gd name="adj" fmla="val 151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3038369407e+21" dist="660767388140000000000" dir="6.9984e+25">
              <a:srgbClr val="8FB4D8">
                <a:alpha val="3e+24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07683" y="2093976"/>
            <a:ext cx="109728" cy="109728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27139" y="2048256"/>
            <a:ext cx="4612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드라이버 설치 불필요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607683" y="2322576"/>
            <a:ext cx="4831461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운영체제 표준 HID 복합 장치로 동작. 설치 권한이 없는 PC에서도 연결 즉시 사용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6515" y="2969514"/>
            <a:ext cx="5233797" cy="966978"/>
          </a:xfrm>
          <a:prstGeom prst="roundRect">
            <a:avLst>
              <a:gd name="adj" fmla="val 151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4.1958729146890005e+25" dist="8.391745829378e+24" dir="4.19904e+30">
              <a:srgbClr val="8FB4D8">
                <a:alpha val="3e+29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607683" y="3134106"/>
            <a:ext cx="109728" cy="109728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27139" y="3088386"/>
            <a:ext cx="4612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트랙볼 기반 포인팅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607683" y="3362706"/>
            <a:ext cx="4831461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팔 전체를 움직이지 않고 엄지만으로 커서를 360도 제어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6515" y="4009644"/>
            <a:ext cx="5233797" cy="966978"/>
          </a:xfrm>
          <a:prstGeom prst="roundRect">
            <a:avLst>
              <a:gd name="adj" fmla="val 151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.328758601655031e+29" dist="1.0657517203310059e+29" dir="2.519424e+35">
              <a:srgbClr val="8FB4D8">
                <a:alpha val="2.9999999999999997e+34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607683" y="4174236"/>
            <a:ext cx="109728" cy="109728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27139" y="4128516"/>
            <a:ext cx="4612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 안에서 완결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607683" y="4402836"/>
            <a:ext cx="4831461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손을 장치에서 떼지 않은 채 문자 입력과 커서 제어를 모두 수행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06515" y="5049774"/>
            <a:ext cx="5233797" cy="966978"/>
          </a:xfrm>
          <a:prstGeom prst="roundRect">
            <a:avLst>
              <a:gd name="adj" fmla="val 151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.767523424101889e+33" dist="1.3535046848203775e+33" dir="1.5116544e+40">
              <a:srgbClr val="8FB4D8">
                <a:alpha val="3e+39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607683" y="5214366"/>
            <a:ext cx="109728" cy="109728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27139" y="5168646"/>
            <a:ext cx="4612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도면·펌웨어 공개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607683" y="5442966"/>
            <a:ext cx="4831461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완성 후 3D 도면과 펌웨어를 공개해 저비용 자가 제작과 개인별 수정을 허용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48640" y="6089904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3A7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변경의 방향은 “기능 추가”가 아니라 “사용 환경의 재정의”입니다.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7FD"/>
          </a:solidFill>
          <a:ln w="12700">
            <a:solidFill>
              <a:srgbClr val="F1F7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A93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 · 컨셉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아이디어 한줄소개, 이렇게 바뀌었습니다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조작 방식 중심의 서술에서, 사용자의 잔존 움직임과 거치 조건을 전제로 한 서술로 전환했습니다.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D6E6F5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3A7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5509260" cy="1529306"/>
          </a:xfrm>
          <a:prstGeom prst="roundRect">
            <a:avLst>
              <a:gd name="adj" fmla="val 95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.594754748609398e+37" dist="1.7189509497218795e+37" dir="9.069926400000001e+44">
              <a:srgbClr val="8FB4D8">
                <a:alpha val="3e+44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1709928"/>
            <a:ext cx="5106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93A7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49808" y="1929384"/>
            <a:ext cx="51069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 전용 하이브리드 입력장치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2221992"/>
            <a:ext cx="5106924" cy="79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‘인체공학적 버티컬 구조’와 ‘트랙볼 기반 통합 제어’를 핵심으로 하는 한 손 전용 하이브리드 입력장치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31052" y="1600200"/>
            <a:ext cx="5509260" cy="1529306"/>
          </a:xfrm>
          <a:prstGeom prst="roundRect">
            <a:avLst>
              <a:gd name="adj" fmla="val 9567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  <a:effectLst>
            <a:outerShdw sx="100000" sy="100000" kx="0" ky="0" algn="bl" rotWithShape="0" blurRad="1.0915338530733936e+42" dist="2.183067706146787e+41" dir="5.44195584e+49">
              <a:srgbClr val="8FB4D8">
                <a:alpha val="2.9999999999999997e+49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2220" y="1709928"/>
            <a:ext cx="5106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332220" y="1929384"/>
            <a:ext cx="51069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고정형 통합 입력장치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32220" y="2221992"/>
            <a:ext cx="5106924" cy="79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손의 잔존 손가락 움직임으로 키보드와 마우스를 통합 제어하는 고정형 입력장치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202658"/>
            <a:ext cx="11091672" cy="329184"/>
          </a:xfrm>
          <a:prstGeom prst="roundRect">
            <a:avLst>
              <a:gd name="adj" fmla="val 30556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248378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관점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97480" y="324837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40296" y="3248378"/>
            <a:ext cx="4535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577562"/>
            <a:ext cx="11091672" cy="488640"/>
          </a:xfrm>
          <a:prstGeom prst="roundRect">
            <a:avLst>
              <a:gd name="adj" fmla="val 2058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623282"/>
            <a:ext cx="1581912" cy="39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장치의 위치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97480" y="3623282"/>
            <a:ext cx="3840480" cy="39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사용자가 손으로 밀어 움직임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40296" y="3623282"/>
            <a:ext cx="4535424" cy="39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손이 놓이는 위치·각도에 고정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111921"/>
            <a:ext cx="11091672" cy="488640"/>
          </a:xfrm>
          <a:prstGeom prst="roundRect">
            <a:avLst>
              <a:gd name="adj" fmla="val 20584"/>
            </a:avLst>
          </a:prstGeom>
          <a:solidFill>
            <a:srgbClr val="E2EFFB"/>
          </a:solidFill>
          <a:ln w="12700">
            <a:solidFill>
              <a:srgbClr val="E2EF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157641"/>
            <a:ext cx="1581912" cy="39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전제 능력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97480" y="4157641"/>
            <a:ext cx="3840480" cy="39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손을 자유롭게 옮길 수 있음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40296" y="4157641"/>
            <a:ext cx="4535424" cy="39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팔 이동 없이 손가락만 움직일 수 있음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646281"/>
            <a:ext cx="11091672" cy="488640"/>
          </a:xfrm>
          <a:prstGeom prst="roundRect">
            <a:avLst>
              <a:gd name="adj" fmla="val 2058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4692001"/>
            <a:ext cx="1581912" cy="39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설계의 축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97480" y="4692001"/>
            <a:ext cx="3840480" cy="39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조작 방식(하이브리드)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0296" y="4692001"/>
            <a:ext cx="4535424" cy="39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거치 조건(고정)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5180640"/>
            <a:ext cx="11091672" cy="488640"/>
          </a:xfrm>
          <a:prstGeom prst="roundRect">
            <a:avLst>
              <a:gd name="adj" fmla="val 20584"/>
            </a:avLst>
          </a:prstGeom>
          <a:solidFill>
            <a:srgbClr val="E2EFFB"/>
          </a:solidFill>
          <a:ln w="12700">
            <a:solidFill>
              <a:srgbClr val="E2EFF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5226360"/>
            <a:ext cx="1581912" cy="39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휴대성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697480" y="5226360"/>
            <a:ext cx="3840480" cy="39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들고 다니며 어디서나 사용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40296" y="5226360"/>
            <a:ext cx="4535424" cy="39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거치 지점에 고정 — 휴대성 대신 접근성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25806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  <a:effectLst>
            <a:outerShdw sx="100000" sy="100000" kx="0" ky="0" algn="bl" rotWithShape="0" blurRad="1.38624799340321e+46" dist="2.7724959868064195e+45" dir="3.2651735040000005e+54">
              <a:srgbClr val="8FB4D8">
                <a:alpha val="2.9999999999999996e+54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68096" y="5815584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이동식·하이브리드 조작에서, 잔존 움직임에 맞춰 ‘고정된 위치’를 전제로 한 설계로 전환했습니다.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7FD"/>
          </a:solidFill>
          <a:ln w="12700">
            <a:solidFill>
              <a:srgbClr val="F1F7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A93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· 문제정의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대상 사용자 범위를 확장했습니다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책상 환경의 한 손 사용자에 더해, 침대에서 장시간 컴퓨터를 사용하는 사용자를 포함했습니다.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D6E6F5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3A7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089904" y="1600200"/>
            <a:ext cx="9144" cy="4069080"/>
          </a:xfrm>
          <a:prstGeom prst="rect">
            <a:avLst/>
          </a:prstGeom>
          <a:solidFill>
            <a:srgbClr val="D6E6F5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00200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대상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31052" y="1600200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추가된 대상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9384"/>
            <a:ext cx="5509260" cy="1060404"/>
          </a:xfrm>
          <a:prstGeom prst="roundRect">
            <a:avLst>
              <a:gd name="adj" fmla="val 137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7605349516220767e+50" dist="3.5210699032441527e+49" dir="1.9591041024000004e+59">
              <a:srgbClr val="8FB4D8">
                <a:alpha val="2.9999999999999996e+59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" y="2039112"/>
            <a:ext cx="5106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93A7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질환·상태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49808" y="2258568"/>
            <a:ext cx="51069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뇌졸중 후 편마비 · 상지 절단 · 뇌성마비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2551176"/>
            <a:ext cx="5106924" cy="32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한쪽 상지만 자유롭게 사용할 수 있는 사용자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062940"/>
            <a:ext cx="5509260" cy="1354961"/>
          </a:xfrm>
          <a:prstGeom prst="roundRect">
            <a:avLst>
              <a:gd name="adj" fmla="val 107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2358793885600375e+54" dist="4.471758777120074e+53" dir="1.1754624614400003e+64">
              <a:srgbClr val="8FB4D8">
                <a:alpha val="2.9999999999999996e+6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227532"/>
            <a:ext cx="109728" cy="109728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3181812"/>
            <a:ext cx="4887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 환경과 병목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9808" y="3456132"/>
            <a:ext cx="5106924" cy="852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책상·노트북 환경에서 표준 키보드와 마우스를 사용.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손이 두 장치 사이를 끊임없이 왕복해야 하며, 그 결과 문자 입력과 커서 제어를 동시에 수행할 수 없습니다.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31052" y="1929384"/>
            <a:ext cx="5509260" cy="1060404"/>
          </a:xfrm>
          <a:prstGeom prst="roundRect">
            <a:avLst>
              <a:gd name="adj" fmla="val 13797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  <a:effectLst>
            <a:outerShdw sx="100000" sy="100000" kx="0" ky="0" algn="bl" rotWithShape="0" blurRad="2.839566823471248e+58" dist="5.679133646942494e+57" dir="7.052774768640002e+68">
              <a:srgbClr val="8FB4D8">
                <a:alpha val="2.9999999999999995e+69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32220" y="2039112"/>
            <a:ext cx="5106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질환·상태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332220" y="2258568"/>
            <a:ext cx="51069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신경근육질환 · 척수손상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32220" y="2551176"/>
            <a:ext cx="5106924" cy="32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체간과 어깨·팔의 움직임이 제한된 사용자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31052" y="3062940"/>
            <a:ext cx="5509260" cy="1354961"/>
          </a:xfrm>
          <a:prstGeom prst="roundRect">
            <a:avLst>
              <a:gd name="adj" fmla="val 107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606249865808485e+62" dist="7.212499731616968e+61" dir="4.2316648611840007e+73">
              <a:srgbClr val="8FB4D8">
                <a:alpha val="2.9999999999999995e+74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32220" y="3227532"/>
            <a:ext cx="109728" cy="109728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1676" y="3181812"/>
            <a:ext cx="4887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 환경과 병목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32220" y="3456132"/>
            <a:ext cx="5106924" cy="852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전동침대에서 장시간 반누운 자세로 컴퓨터를 사용.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손가락의 미세 움직임이 남아 있어도 팔을 들어 키보드 위에 유지하기 어렵고, 침대 위에는 장치를 둘 평면이 부족하며 자세가 바뀔 때마다 위치를 다시 맞춰야 합니다.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4491053"/>
            <a:ext cx="5509260" cy="1178227"/>
          </a:xfrm>
          <a:prstGeom prst="roundRect">
            <a:avLst>
              <a:gd name="adj" fmla="val 12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4.579937329576776e+66" dist="9.15987465915355e+65" dir="2.5389989167104004e+78">
              <a:srgbClr val="8FB4D8">
                <a:alpha val="3e+79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9808" y="4655645"/>
            <a:ext cx="109728" cy="109728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" y="4609925"/>
            <a:ext cx="4887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대안의 한계 — 상용 한 손 키보드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9808" y="4884245"/>
            <a:ext cx="5106924" cy="675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포인팅 기능이 없어 마우스를 따로 두어야 하므로 왕복 문제가 그대로 남습니다.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가격이 높고 국내 유통과 사후 지원도 제한적입니다.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31052" y="4491053"/>
            <a:ext cx="5509260" cy="1178227"/>
          </a:xfrm>
          <a:prstGeom prst="roundRect">
            <a:avLst>
              <a:gd name="adj" fmla="val 12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.816520408562505e+70" dist="1.1633040817125008e+70" dir="1.5233993500262402e+83">
              <a:srgbClr val="8FB4D8">
                <a:alpha val="2.9999999999999995e+84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32220" y="4655645"/>
            <a:ext cx="109728" cy="109728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51676" y="4609925"/>
            <a:ext cx="4887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대안의 한계 — 소프트웨어 방식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32220" y="4884245"/>
            <a:ext cx="5106924" cy="675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화상 키보드나 마우스키 기능은 별도 설치와 설정이 필요합니다.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설치 권한이 없는 회사·학교·공공기관 PC에서는 사용할 수 없습니다.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25806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  <a:effectLst>
            <a:outerShdw sx="100000" sy="100000" kx="0" ky="0" algn="bl" rotWithShape="0" blurRad="7.386980918874382e+74" dist="1.477396183774876e+74" dir="9.14039610015744e+87">
              <a:srgbClr val="8FB4D8">
                <a:alpha val="2.9999999999999996e+89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68096" y="5815584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손가락의 신뢰할 수 있는 움직임이 없는 사용자는 본 시제품의 1차 대상이 아님을 신청서에 명시했습니다.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7FD"/>
          </a:solidFill>
          <a:ln w="12700">
            <a:solidFill>
              <a:srgbClr val="F1F7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A93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· 문제정의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‘무엇이 병목인가’에 대한 관점이 바뀌었습니다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병목을 모드 전환 비용이 아니라, 입력면에 접근하고 두 장치 사이를 이동하는 과정으로 재정의했습니다.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D6E6F5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3A7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11091672" cy="39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관점 — 병목은 커서 제어와 문자 입력 사이의 모드 전환 비용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064875"/>
            <a:ext cx="2622042" cy="1231537"/>
          </a:xfrm>
          <a:prstGeom prst="roundRect">
            <a:avLst>
              <a:gd name="adj" fmla="val 118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9.381465766970464e+78" dist="1.8762931533940924e+78" dir="5.484237660094465e+92">
              <a:srgbClr val="8FB4D8">
                <a:alpha val="2.9999999999999997e+94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2174603"/>
            <a:ext cx="2402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문자 입력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2595227"/>
            <a:ext cx="2402586" cy="59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키보드에 손을 올린 상태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70682" y="2064875"/>
            <a:ext cx="201168" cy="1231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93A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71850" y="2064875"/>
            <a:ext cx="2622042" cy="1231537"/>
          </a:xfrm>
          <a:prstGeom prst="roundRect">
            <a:avLst>
              <a:gd name="adj" fmla="val 118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191446152405249e+83" dist="2.3828923048104974e+82" dir="3.2905425960566786e+97">
              <a:srgbClr val="8FB4D8">
                <a:alpha val="2.9999999999999997e+99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81578" y="2174603"/>
            <a:ext cx="2402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손을 마우스로 이동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81578" y="2595227"/>
            <a:ext cx="2402586" cy="59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장치 간 왕복 1회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93892" y="2064875"/>
            <a:ext cx="201168" cy="1231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93A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5060" y="2064875"/>
            <a:ext cx="2622042" cy="1231537"/>
          </a:xfrm>
          <a:prstGeom prst="roundRect">
            <a:avLst>
              <a:gd name="adj" fmla="val 118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5131366135546663e+87" dist="3.0262732271093317e+86" dir="1.9743255576340073e+102">
              <a:srgbClr val="8FB4D8">
                <a:alpha val="3e+104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04788" y="2174603"/>
            <a:ext cx="2402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커서 제어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4788" y="2595227"/>
            <a:ext cx="2402586" cy="59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마우스를 잡은 상태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817102" y="2064875"/>
            <a:ext cx="201168" cy="1231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93A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18270" y="2064875"/>
            <a:ext cx="2622042" cy="1231537"/>
          </a:xfrm>
          <a:prstGeom prst="roundRect">
            <a:avLst>
              <a:gd name="adj" fmla="val 118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9216834992144262e+91" dist="3.8433669984288512e+90" dir="1.1845953345804043e+107">
              <a:srgbClr val="8FB4D8">
                <a:alpha val="2.9999999999999997e+109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27998" y="2174603"/>
            <a:ext cx="2402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손을 키보드로 복귀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27998" y="2595227"/>
            <a:ext cx="2402586" cy="59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장치 간 왕복 2회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8640" y="333298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93A7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해결 방향 — 손을 장치에서 떼지 않고 두 기능을 모두 수행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8640" y="3643884"/>
            <a:ext cx="11091672" cy="39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 관점 — 병목은 팔을 들어 입력면에 접근하고 두 장치 사이를 반복 이동하는 것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108559"/>
            <a:ext cx="2622042" cy="1231537"/>
          </a:xfrm>
          <a:prstGeom prst="roundRect">
            <a:avLst>
              <a:gd name="adj" fmla="val 118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4405380440023213e+95" dist="4.8810760880046414e+94" dir="7.107572007482426e+111">
              <a:srgbClr val="8FB4D8">
                <a:alpha val="2.9999999999999995e+114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8368" y="4218287"/>
            <a:ext cx="2402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팔을 들어 올림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" y="4638911"/>
            <a:ext cx="2402586" cy="59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체간·어깨 근력 필요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170682" y="4108559"/>
            <a:ext cx="201168" cy="1231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93A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371850" y="4108559"/>
            <a:ext cx="2622042" cy="1231537"/>
          </a:xfrm>
          <a:prstGeom prst="roundRect">
            <a:avLst>
              <a:gd name="adj" fmla="val 118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099483315882948e+99" dist="6.198966631765894e+98" dir="4.2645432044894554e+116">
              <a:srgbClr val="8FB4D8">
                <a:alpha val="2.9999999999999997e+119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81578" y="4218287"/>
            <a:ext cx="2402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입력면에 접근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81578" y="4638911"/>
            <a:ext cx="2402586" cy="59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침대 위 평면 부족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993892" y="4108559"/>
            <a:ext cx="201168" cy="1231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93A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5060" y="4108559"/>
            <a:ext cx="2622042" cy="1231537"/>
          </a:xfrm>
          <a:prstGeom prst="roundRect">
            <a:avLst>
              <a:gd name="adj" fmla="val 118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9363438111713435e+103" dist="7.872687622342685e+102" dir="2.5587259226936733e+121">
              <a:srgbClr val="8FB4D8">
                <a:alpha val="2.9999999999999995e+124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04788" y="4218287"/>
            <a:ext cx="2402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장치 위치 재조정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4788" y="4638911"/>
            <a:ext cx="2402586" cy="59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자세가 바뀔 때마다 반복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817102" y="4108559"/>
            <a:ext cx="201168" cy="1231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93A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18270" y="4108559"/>
            <a:ext cx="2622042" cy="1231537"/>
          </a:xfrm>
          <a:prstGeom prst="roundRect">
            <a:avLst>
              <a:gd name="adj" fmla="val 11880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  <a:effectLst>
            <a:outerShdw sx="100000" sy="100000" kx="0" ky="0" algn="bl" rotWithShape="0" blurRad="4.9991566401876064e+107" dist="9.998313280375211e+106" dir="1.535235553616204e+126">
              <a:srgbClr val="8FB4D8">
                <a:alpha val="2.9999999999999997e+129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127998" y="4218287"/>
            <a:ext cx="2402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127998" y="4638911"/>
            <a:ext cx="2402586" cy="59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여기까지 와야 시작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48640" y="5376672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93A7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해결 방향 — 장치를 손이 놓이는 위치·각도에 고정해 앞의 세 단계를 제거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48640" y="5687568"/>
            <a:ext cx="11091672" cy="621792"/>
          </a:xfrm>
          <a:prstGeom prst="roundRect">
            <a:avLst>
              <a:gd name="adj" fmla="val 23529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  <a:effectLst>
            <a:outerShdw sx="100000" sy="100000" kx="0" ky="0" algn="bl" rotWithShape="0" blurRad="6.34892893303826e+111" dist="1.2697857866076517e+111" dir="9.211413321697224e+130">
              <a:srgbClr val="8FB4D8">
                <a:alpha val="2.9999999999999996e+134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68096" y="5760720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 자체보다, 팔을 지지하고 입력 위치를 유지하는 과정이 더 큰 부담입니다. 작은 자세 변화에도 작업이 중단되거나 보조인의 도움이 필요해집니다.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7FD"/>
          </a:solidFill>
          <a:ln w="12700">
            <a:solidFill>
              <a:srgbClr val="F1F7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A93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· 페르소나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페르소나 ‘허교환’, 설정이 새로 바뀌었습니다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확장된 대상 사용자에 맞춰 연령·질환·자세·사용 환경을 모두 재설정했습니다.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D6E6F5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3A7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11091672" cy="329184"/>
          </a:xfrm>
          <a:prstGeom prst="roundRect">
            <a:avLst>
              <a:gd name="adj" fmla="val 30556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645920"/>
            <a:ext cx="13810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항목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96598" y="1645920"/>
            <a:ext cx="39463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45284" y="1645920"/>
            <a:ext cx="46304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1975104"/>
            <a:ext cx="11091672" cy="487832"/>
          </a:xfrm>
          <a:prstGeom prst="roundRect">
            <a:avLst>
              <a:gd name="adj" fmla="val 20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020824"/>
            <a:ext cx="1381030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나이 · 배경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96598" y="2020824"/>
            <a:ext cx="3946350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47세 · 물류회사 사무직, 뇌졸중 후 재택 복귀 준비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45284" y="2020824"/>
            <a:ext cx="4630436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35세 · 신경근육질환, 재택 온라인 검수·문서 업무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508656"/>
            <a:ext cx="11091672" cy="487832"/>
          </a:xfrm>
          <a:prstGeom prst="roundRect">
            <a:avLst>
              <a:gd name="adj" fmla="val 20619"/>
            </a:avLst>
          </a:prstGeom>
          <a:solidFill>
            <a:srgbClr val="E2EFFB"/>
          </a:solidFill>
          <a:ln w="12700">
            <a:solidFill>
              <a:srgbClr val="E2EF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554376"/>
            <a:ext cx="1381030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자세 · 환경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96598" y="2554376"/>
            <a:ext cx="3946350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 책상에서 회사 지급 노트북 사용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45284" y="2554376"/>
            <a:ext cx="4630436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전동침대에서 상체 10~30도 반누운 자세, 하루 4~6시간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042209"/>
            <a:ext cx="11091672" cy="487832"/>
          </a:xfrm>
          <a:prstGeom prst="roundRect">
            <a:avLst>
              <a:gd name="adj" fmla="val 20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087929"/>
            <a:ext cx="1381030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어려움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96598" y="3087929"/>
            <a:ext cx="3946350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좌측 편마비로 키보드·마우스 왕복 타이핑이 어려움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45284" y="3087929"/>
            <a:ext cx="4630436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팔 들기 어려움, 장치 밀림·이탈, 화면을 보며 키 위치 확인 어려움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575761"/>
            <a:ext cx="11091672" cy="487832"/>
          </a:xfrm>
          <a:prstGeom prst="roundRect">
            <a:avLst>
              <a:gd name="adj" fmla="val 20619"/>
            </a:avLst>
          </a:prstGeom>
          <a:solidFill>
            <a:srgbClr val="E2EFFB"/>
          </a:solidFill>
          <a:ln w="12700">
            <a:solidFill>
              <a:srgbClr val="E2EF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621481"/>
            <a:ext cx="1381030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필요 조건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96598" y="3621481"/>
            <a:ext cx="3946350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손으로 문자 입력과 커서 제어를 함께 수행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45284" y="3621481"/>
            <a:ext cx="4630436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침대 각도가 바뀌어도 장치 방향 조정, 손가락별 키맵·활성 힘 변경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109314"/>
            <a:ext cx="11091672" cy="487832"/>
          </a:xfrm>
          <a:prstGeom prst="roundRect">
            <a:avLst>
              <a:gd name="adj" fmla="val 20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4155034"/>
            <a:ext cx="1381030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96598" y="4155034"/>
            <a:ext cx="3946350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분당 100타 이상, 재택 근무자로 정식 복귀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45284" y="4155034"/>
            <a:ext cx="4630436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보호자의 재배치 없이 90분 이상 연속 작업, 분당 100타 이상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670298"/>
            <a:ext cx="2718054" cy="998982"/>
          </a:xfrm>
          <a:prstGeom prst="roundRect">
            <a:avLst>
              <a:gd name="adj" fmla="val 128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.063139744958591e+115" dist="1.6126279489917177e+115" dir="5.526847993018334e+135">
              <a:srgbClr val="8FB4D8">
                <a:alpha val="2.9999999999999994e+139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8497" y="4810155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93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35세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88497" y="5194203"/>
            <a:ext cx="2438339" cy="33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신경근육질환 재택 근무자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339846" y="4670298"/>
            <a:ext cx="2718054" cy="998982"/>
          </a:xfrm>
          <a:prstGeom prst="roundRect">
            <a:avLst>
              <a:gd name="adj" fmla="val 128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024018747609741e+120" dist="2.0480374952194813e+119" dir="3.3161087958110005e+140">
              <a:srgbClr val="8FB4D8">
                <a:alpha val="2.9999999999999996e+144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479703" y="4810155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93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10~30°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479703" y="5194203"/>
            <a:ext cx="2438339" cy="33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상체 거상 각도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131052" y="4670298"/>
            <a:ext cx="2718054" cy="998982"/>
          </a:xfrm>
          <a:prstGeom prst="roundRect">
            <a:avLst>
              <a:gd name="adj" fmla="val 128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300503809464371e+124" dist="2.6010076189287412e+123" dir="1.9896652774866004e+145">
              <a:srgbClr val="8FB4D8">
                <a:alpha val="2.9999999999999996e+149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270909" y="4810155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93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4~6시간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270909" y="5194203"/>
            <a:ext cx="2438339" cy="33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하루 컴퓨터 사용 시간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922258" y="4670298"/>
            <a:ext cx="2718054" cy="998982"/>
          </a:xfrm>
          <a:prstGeom prst="roundRect">
            <a:avLst>
              <a:gd name="adj" fmla="val 128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6516398380197513e+128" dist="3.303279676039501e+127" dir="1.1937991664919603e+150">
              <a:srgbClr val="8FB4D8">
                <a:alpha val="2.9999999999999997e+154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062115" y="4810155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93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90분+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062115" y="5194203"/>
            <a:ext cx="2438339" cy="33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보호자 도움 없는 연속 작업 목표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25806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  <a:effectLst>
            <a:outerShdw sx="100000" sy="100000" kx="0" ky="0" algn="bl" rotWithShape="0" blurRad="2.0975825942850843e+132" dist="4.195165188570166e+131" dir="7.162794998951762e+154">
              <a:srgbClr val="8FB4D8">
                <a:alpha val="2.9999999999999998e+159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68096" y="5815584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설정 변경은 보호자가 아니라 본인이 가능한 범위에서 수행할 수 있어야 한다는 조건을 새로 추가했습니다.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7FD"/>
          </a:solidFill>
          <a:ln w="12700">
            <a:solidFill>
              <a:srgbClr val="F1F7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A93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· 설계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본체 구조가 ‘고정형’으로 바뀌고, 지지부가 새로 생겼습니다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밀어서 움직이는 구조를 버리고, 고정된 본체를 좌우로 눕혀 키 뱅크를 전환하는 구조를 추가했습니다.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D6E6F5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3A7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6492240"/>
            <a:ext cx="3410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3A7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참고 디자인 레퍼런스 : Azeron Cyborg II (azeron.com)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089904" y="1600200"/>
            <a:ext cx="9144" cy="4069080"/>
          </a:xfrm>
          <a:prstGeom prst="rect">
            <a:avLst/>
          </a:prstGeom>
          <a:solidFill>
            <a:srgbClr val="D6E6F5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00200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본체 — 이동식에서 고정형으로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31052" y="1600200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지지부 — 신규 추가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1929384"/>
            <a:ext cx="5509260" cy="1035442"/>
          </a:xfrm>
          <a:prstGeom prst="roundRect">
            <a:avLst>
              <a:gd name="adj" fmla="val 14130"/>
            </a:avLst>
          </a:prstGeom>
          <a:solidFill>
            <a:srgbClr val="F1F7FD"/>
          </a:solidFill>
          <a:ln w="15875">
            <a:solidFill>
              <a:srgbClr val="4A9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039112"/>
            <a:ext cx="5106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93A7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변경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49808" y="2258568"/>
            <a:ext cx="51069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마우스처럼 미는 방식 → 거치 고정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" y="2551176"/>
            <a:ext cx="5106924" cy="303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침대 사이드레일, 침대 테이블, 별도 관절형 암에 고정합니다.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037978"/>
            <a:ext cx="5509260" cy="1339983"/>
          </a:xfrm>
          <a:prstGeom prst="roundRect">
            <a:avLst>
              <a:gd name="adj" fmla="val 109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663929894742057e+136" dist="5.327859789484111e+135" dir="4.297676999371057e+159">
              <a:srgbClr val="8FB4D8">
                <a:alpha val="3e+164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3202570"/>
            <a:ext cx="109728" cy="109728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3156850"/>
            <a:ext cx="4887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미끄럼 · 이탈 방지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9808" y="3431170"/>
            <a:ext cx="5106924" cy="83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손을 강하게 쥐지 않아도 위치가 유지되도록 손등 밴드 또는 측면 가이드를 둡니다.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버티컬 구조로 손목의 비틀림(회내)을 막아 장시간 사용 시 피로와 관절 부담을 줄입니다.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31052" y="1929384"/>
            <a:ext cx="5509260" cy="1035442"/>
          </a:xfrm>
          <a:prstGeom prst="roundRect">
            <a:avLst>
              <a:gd name="adj" fmla="val 14130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  <a:effectLst>
            <a:outerShdw sx="100000" sy="100000" kx="0" ky="0" algn="bl" rotWithShape="0" blurRad="3.3831909663224124e+140" dist="6.766381932644821e+139" dir="2.5786061996226343e+164">
              <a:srgbClr val="8FB4D8">
                <a:alpha val="3e+169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32220" y="2039112"/>
            <a:ext cx="5106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신규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332220" y="2258568"/>
            <a:ext cx="51069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본체를 좌우로 눕혀 BANK 전환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32220" y="2551176"/>
            <a:ext cx="5106924" cy="303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전투기 조종간처럼 본체 전체를 기울여 키보드 뱅크(BANK A / B)를 선택합니다.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31052" y="3037978"/>
            <a:ext cx="5509260" cy="1339983"/>
          </a:xfrm>
          <a:prstGeom prst="roundRect">
            <a:avLst>
              <a:gd name="adj" fmla="val 109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4.296652527229464e+144" dist="8.593305054458923e+143" dir="1.5471637197735807e+169">
              <a:srgbClr val="8FB4D8">
                <a:alpha val="3e+174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32220" y="3202570"/>
            <a:ext cx="109728" cy="109728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1676" y="3156850"/>
            <a:ext cx="4887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스위치 방식 변경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32220" y="3431170"/>
            <a:ext cx="5106924" cy="83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 손가락 입력을 기존 ‘다방향 스위치’에서 ‘토글 스위치’ 방식으로 변경했습니다.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손가락 관절의 미세한 움직임 방향에 따라 서로 다른 키가 입력됩니다.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4451113"/>
            <a:ext cx="5509260" cy="1218167"/>
          </a:xfrm>
          <a:prstGeom prst="roundRect">
            <a:avLst>
              <a:gd name="adj" fmla="val 120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.456748709581419e+148" dist="1.0913497419162833e+148" dir="9.282982318641485e+173">
              <a:srgbClr val="8FB4D8">
                <a:alpha val="3e+179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9808" y="4615705"/>
            <a:ext cx="109728" cy="109728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" y="4569985"/>
            <a:ext cx="4887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고정이 전제가 되는가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9808" y="4844305"/>
            <a:ext cx="5106924" cy="71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침대에서는 중력이 기기를 눌러 고정해 주지 않고, 자세를 바꿀 때마다 위치가 흐트러집니다.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자중과 논슬립만으로는 유지되지 않으므로 거치 고정을 설계의 전제로 둡니다.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31052" y="4451113"/>
            <a:ext cx="5509260" cy="1218167"/>
          </a:xfrm>
          <a:prstGeom prst="roundRect">
            <a:avLst>
              <a:gd name="adj" fmla="val 120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.930070861168402e+152" dist="1.38601417223368e+152" dir="5.569789391184891e+178">
              <a:srgbClr val="8FB4D8">
                <a:alpha val="3e+184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32220" y="4615705"/>
            <a:ext cx="109728" cy="109728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51676" y="4569985"/>
            <a:ext cx="4887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참고한 구조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32220" y="4844305"/>
            <a:ext cx="5106924" cy="71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손을 얹은 채 손가락마다 여러 키를 배치하는 게이밍 키패드 구조를 지지부 설계의 출발점으로 참고했습니다.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다만 목표는 게임 조작이 아니라 문자 입력과 커서 제어의 통합입니다.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25806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  <a:effectLst>
            <a:outerShdw sx="100000" sy="100000" kx="0" ky="0" algn="bl" rotWithShape="0" blurRad="8.80118999368387e+156" dist="1.7602379987367734e+156" dir="3.3418736347109347e+183">
              <a:srgbClr val="8FB4D8">
                <a:alpha val="3e+189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68096" y="5815584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고정형으로 바꾸면서 잃은 것은 휴대성이고, 얻은 것은 팔을 들지 않아도 되는 접근성입니다.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7FD"/>
          </a:solidFill>
          <a:ln w="12700">
            <a:solidFill>
              <a:srgbClr val="F1F7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A93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· 설계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BANK 전환 방식, 이렇게 구현했습니다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 손가락 토글 4개만으로 26키를 확보하기 위한 전환 구조입니다.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D6E6F5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3A7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278118" y="1600200"/>
            <a:ext cx="9144" cy="4709160"/>
          </a:xfrm>
          <a:prstGeom prst="rect">
            <a:avLst/>
          </a:prstGeom>
          <a:solidFill>
            <a:srgbClr val="D6E6F5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00200"/>
            <a:ext cx="56929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전환 메커니즘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14694" y="1600200"/>
            <a:ext cx="5325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 예산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9384"/>
            <a:ext cx="5692902" cy="1411224"/>
          </a:xfrm>
          <a:prstGeom prst="roundRect">
            <a:avLst>
              <a:gd name="adj" fmla="val 103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1177511291978515e+161" dist="2.235502258395702e+160" dir="2.0051241808265608e+188">
              <a:srgbClr val="8FB4D8">
                <a:alpha val="2.9999999999999997e+19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2048256"/>
            <a:ext cx="274320" cy="274320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1031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33856" y="2075688"/>
            <a:ext cx="49065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좌우 기울임으로 선택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" y="2386584"/>
            <a:ext cx="5290566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왼쪽으로 4~5° 기울이면 BANK A, 오른쪽으로 4~5° 기울이면 BANK B를 선택합니다.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본체 전체를 눕히는 동작이므로 손가락을 따로 쓰지 않습니다.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413760"/>
            <a:ext cx="5692902" cy="1411224"/>
          </a:xfrm>
          <a:prstGeom prst="roundRect">
            <a:avLst>
              <a:gd name="adj" fmla="val 103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4195439340812714e+165" dist="2.8390878681625417e+164" dir="1.2030745084959364e+193">
              <a:srgbClr val="8FB4D8">
                <a:alpha val="2.9999999999999997e+199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3532632"/>
            <a:ext cx="274320" cy="274320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5874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33856" y="3560064"/>
            <a:ext cx="49065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스프링 복귀 · 상태 유지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9808" y="3870960"/>
            <a:ext cx="5290566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손을 놓으면 스프링으로 중앙에 복귀하되, 선택된 BANK는 그대로 유지됩니다.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어느 뱅크인지는 LED 색상과 짧은 진동으로 표시합니다.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4898136"/>
            <a:ext cx="5692902" cy="1411224"/>
          </a:xfrm>
          <a:prstGeom prst="roundRect">
            <a:avLst>
              <a:gd name="adj" fmla="val 103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8028207962832146e+169" dist="3.605641592566428e+168" dir="7.218447050975619e+197">
              <a:srgbClr val="8FB4D8">
                <a:alpha val="3e+204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5017008"/>
            <a:ext cx="274320" cy="274320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50718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33856" y="5044440"/>
            <a:ext cx="49065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손가락당 3동작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9808" y="5355336"/>
            <a:ext cx="5290566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 하나마다 위로 밀기 · 누르기 · 아래로 밀기 세 동작을 각각 다른 입력으로 인식합니다.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손가락을 옮기지 않고 관절 방향만 바꾸므로 팔 이동이 필요 없습니다.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14694" y="1929384"/>
            <a:ext cx="5325618" cy="723282"/>
          </a:xfrm>
          <a:prstGeom prst="roundRect">
            <a:avLst>
              <a:gd name="adj" fmla="val 20228"/>
            </a:avLst>
          </a:prstGeom>
          <a:solidFill>
            <a:srgbClr val="FFFFFF"/>
          </a:solidFill>
          <a:ln w="19050">
            <a:solidFill>
              <a:srgbClr val="4A93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5862" y="2020824"/>
            <a:ext cx="4923282" cy="361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4A93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× 3 × 2 + 2 = 26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15862" y="2382465"/>
            <a:ext cx="4923282" cy="178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토글 4개 × 3동작 × 2 BANK = 24키, 여기에 엄지 보조키를 더해 총 26키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314694" y="2725818"/>
            <a:ext cx="1726438" cy="614790"/>
          </a:xfrm>
          <a:prstGeom prst="roundRect">
            <a:avLst>
              <a:gd name="adj" fmla="val 208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2895824112796827e+173" dist="4.579164822559364e+172" dir="4.3310682305853715e+202">
              <a:srgbClr val="8FB4D8">
                <a:alpha val="3e+209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765" y="2811889"/>
            <a:ext cx="1554297" cy="278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93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00765" y="3089945"/>
            <a:ext cx="15542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총 입력키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114284" y="2725818"/>
            <a:ext cx="1726438" cy="614790"/>
          </a:xfrm>
          <a:prstGeom prst="roundRect">
            <a:avLst>
              <a:gd name="adj" fmla="val 208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907769662325197e+177" dist="5.815539324650392e+176" dir="2.598640938351223e+207">
              <a:srgbClr val="8FB4D8">
                <a:alpha val="2.9999999999999996e+214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200355" y="2811889"/>
            <a:ext cx="1554297" cy="278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93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00355" y="3089945"/>
            <a:ext cx="15542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BANK당 키 수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9913874" y="2725818"/>
            <a:ext cx="1726438" cy="614790"/>
          </a:xfrm>
          <a:prstGeom prst="roundRect">
            <a:avLst>
              <a:gd name="adj" fmla="val 208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692867471153e+181" dist="7.385734942305998e+180" dir="1.5591845630107338e+212">
              <a:srgbClr val="8FB4D8">
                <a:alpha val="3e+219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999945" y="2811889"/>
            <a:ext cx="1554297" cy="278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93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999945" y="3089945"/>
            <a:ext cx="15542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키당 동작 수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314694" y="3413760"/>
            <a:ext cx="5325618" cy="439928"/>
          </a:xfrm>
          <a:prstGeom prst="roundRect">
            <a:avLst>
              <a:gd name="adj" fmla="val 22864"/>
            </a:avLst>
          </a:prstGeom>
          <a:solidFill>
            <a:srgbClr val="E2EFFB"/>
          </a:solidFill>
          <a:ln w="12700">
            <a:solidFill>
              <a:srgbClr val="E2EFF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7574" y="3468624"/>
            <a:ext cx="141732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BANK당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2910" y="3468624"/>
            <a:ext cx="341452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토글 12키 + 엄지 보조키 1키 = 13키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14694" y="3899408"/>
            <a:ext cx="5325618" cy="439928"/>
          </a:xfrm>
          <a:prstGeom prst="roundRect">
            <a:avLst>
              <a:gd name="adj" fmla="val 228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7574" y="3954272"/>
            <a:ext cx="141732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총 입력키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042910" y="3954272"/>
            <a:ext cx="341452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BANK A · B 합계 26키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314694" y="4385056"/>
            <a:ext cx="5325618" cy="439928"/>
          </a:xfrm>
          <a:prstGeom prst="roundRect">
            <a:avLst>
              <a:gd name="adj" fmla="val 22864"/>
            </a:avLst>
          </a:prstGeom>
          <a:solidFill>
            <a:srgbClr val="E2EFFB"/>
          </a:solidFill>
          <a:ln w="12700">
            <a:solidFill>
              <a:srgbClr val="E2EFF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7574" y="4439920"/>
            <a:ext cx="141732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엄지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042910" y="4439920"/>
            <a:ext cx="341452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트랙볼과 보조키를 담당 (문자 입력에서 제외)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14694" y="4898136"/>
            <a:ext cx="5325618" cy="474800"/>
          </a:xfrm>
          <a:prstGeom prst="roundRect">
            <a:avLst>
              <a:gd name="adj" fmla="val 30814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  <a:effectLst>
            <a:outerShdw sx="100000" sy="100000" kx="0" ky="0" algn="bl" rotWithShape="0" blurRad="4.68994168836431e+185" dist="9.379883376728618e+184" dir="9.355107378064403e+216">
              <a:srgbClr val="8FB4D8">
                <a:alpha val="2.9999999999999997e+224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534150" y="4971288"/>
            <a:ext cx="4886706" cy="328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MODE 키로 영문 → 한글 → 숫자·기호 순서로 입력 모드를 전환합니다. (신규 추가)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14694" y="5446088"/>
            <a:ext cx="5325618" cy="863272"/>
          </a:xfrm>
          <a:prstGeom prst="roundRect">
            <a:avLst>
              <a:gd name="adj" fmla="val 169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.956225944222674e+189" dist="1.1912451888445345e+189" dir="5.613064426838642e+221">
              <a:srgbClr val="8FB4D8">
                <a:alpha val="2.9999999999999994e+229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515862" y="5610680"/>
            <a:ext cx="109728" cy="109728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35318" y="5564960"/>
            <a:ext cx="47038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BANK 전환이 필요한가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515862" y="5839280"/>
            <a:ext cx="4923282" cy="36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 손가락 토글만으로는 12키에 그칩니다. 뱅크 전환으로 물리 키 수를 두 배로 늘려, 손가락을 옮기지 않고도 26키를 확보합니다.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7FD"/>
          </a:solidFill>
          <a:ln w="12700">
            <a:solidFill>
              <a:srgbClr val="F1F7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A93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· 부품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제어부(MCU)를 변경했습니다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연결 방식과 전원 구조는 그대로 두고, 제어부 모듈만 교체했습니다.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D6E6F5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3A7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5509260" cy="1741815"/>
          </a:xfrm>
          <a:prstGeom prst="roundRect">
            <a:avLst>
              <a:gd name="adj" fmla="val 8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.564406949162795e+193" dist="1.5128813898325588e+193" dir="3.367838656103185e+226">
              <a:srgbClr val="8FB4D8">
                <a:alpha val="2.9999999999999995e+234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1709928"/>
            <a:ext cx="5106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93A7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49808" y="1929384"/>
            <a:ext cx="51069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ESP32-S3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2221992"/>
            <a:ext cx="5106924" cy="1010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신청서 원본 제출 시점의 제어부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31052" y="1600200"/>
            <a:ext cx="5509260" cy="1741815"/>
          </a:xfrm>
          <a:prstGeom prst="roundRect">
            <a:avLst>
              <a:gd name="adj" fmla="val 8400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  <a:effectLst>
            <a:outerShdw sx="100000" sy="100000" kx="0" ky="0" algn="bl" rotWithShape="0" blurRad="9.60679682543675e+197" dist="1.9213593650873497e+197" dir="2.020703193661911e+231">
              <a:srgbClr val="8FB4D8">
                <a:alpha val="2.9999999999999994e+239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2220" y="1709928"/>
            <a:ext cx="5106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332220" y="1929384"/>
            <a:ext cx="51069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Seeed XIAO nRF52840 Plus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32220" y="2221992"/>
            <a:ext cx="5106924" cy="1010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USB-C 유선과 BLE 무선을 모두 지원하는 제어부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415167"/>
            <a:ext cx="11091672" cy="422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변경 없이 유지되는 부분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910440"/>
            <a:ext cx="11091672" cy="555800"/>
          </a:xfrm>
          <a:prstGeom prst="roundRect">
            <a:avLst>
              <a:gd name="adj" fmla="val 18097"/>
            </a:avLst>
          </a:prstGeom>
          <a:solidFill>
            <a:srgbClr val="E2EFFB"/>
          </a:solidFill>
          <a:ln w="12700">
            <a:solidFill>
              <a:srgbClr val="E2EF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965304"/>
            <a:ext cx="1005840" cy="44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65376" y="3965304"/>
            <a:ext cx="9592056" cy="44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USB-C 유선 + BLE 무선 동시 지원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511960"/>
            <a:ext cx="11091672" cy="555800"/>
          </a:xfrm>
          <a:prstGeom prst="roundRect">
            <a:avLst>
              <a:gd name="adj" fmla="val 180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566824"/>
            <a:ext cx="1005840" cy="44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65376" y="4566824"/>
            <a:ext cx="9592056" cy="44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USB-C 단자가 배터리 충전을 겸함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5113480"/>
            <a:ext cx="11091672" cy="555800"/>
          </a:xfrm>
          <a:prstGeom prst="roundRect">
            <a:avLst>
              <a:gd name="adj" fmla="val 18097"/>
            </a:avLst>
          </a:prstGeom>
          <a:solidFill>
            <a:srgbClr val="E2EFFB"/>
          </a:solidFill>
          <a:ln w="12700">
            <a:solidFill>
              <a:srgbClr val="E2EF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168344"/>
            <a:ext cx="1005840" cy="44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인식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65376" y="5168344"/>
            <a:ext cx="9592056" cy="44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드라이버 설치 없이 표준 HID(키보드·마우스 복합 장치)로 동작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25806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  <a:effectLst>
            <a:outerShdw sx="100000" sy="100000" kx="0" ky="0" algn="bl" rotWithShape="0" blurRad="1.2200631968304672e+202" dist="2.440126393660934e+201" dir="1.2124219161971466e+236">
              <a:srgbClr val="8FB4D8">
                <a:alpha val="2.999999999999999e+244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68096" y="5815584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제어부가 바뀌어도 “설치 권한이 없는 PC에서 연결 즉시 사용”이라는 핵심 전제는 그대로 유지됩니다.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7E9FA"/>
          </a:solidFill>
          <a:ln w="12700">
            <a:solidFill>
              <a:srgbClr val="D7E9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400" dirty="0">
                <a:solidFill>
                  <a:srgbClr val="4A93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설계 심화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신청서 제출 이후 사전행사에서 구체화한 내용입니다. 아래 네 장은 수정본을 전제로 작성되었습니다.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7FD"/>
          </a:solidFill>
          <a:ln w="12700">
            <a:solidFill>
              <a:srgbClr val="F1F7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A93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· 설계 심화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엄지 하나에 세 역할을 몰아넣으면 드래그가 불가능합니다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예상도에서 엄지가 담당하던 트랙볼·클릭·모디파이어를 분리하고, 순차 입력으로 조합을 대체했습니다.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D6E6F5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3A7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089904" y="1600200"/>
            <a:ext cx="9144" cy="4069080"/>
          </a:xfrm>
          <a:prstGeom prst="rect">
            <a:avLst/>
          </a:prstGeom>
          <a:solidFill>
            <a:srgbClr val="D6E6F5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00200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 — 엄지는 한 번에 한 곳에만 있습니다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31052" y="1600200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해법 — 자원을 분리하고 순차 입력으로 바꿉니다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9384"/>
            <a:ext cx="5509260" cy="1197864"/>
          </a:xfrm>
          <a:prstGeom prst="roundRect">
            <a:avLst>
              <a:gd name="adj" fmla="val 122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5494802599746934e+206" dist="3.0989605199493864e+205" dir="7.27453149718288e+240">
              <a:srgbClr val="8FB4D8">
                <a:alpha val="2.999999999999999e+24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2093976"/>
            <a:ext cx="109728" cy="109728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2048256"/>
            <a:ext cx="4887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드래그가 되지 않음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2322576"/>
            <a:ext cx="51069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좌클릭을 누른 채 트랙볼을 굴려야 하는데, 같은 엄지가 둘을 동시에 할 수 없습니다.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5509260" cy="1197864"/>
          </a:xfrm>
          <a:prstGeom prst="roundRect">
            <a:avLst>
              <a:gd name="adj" fmla="val 122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9678399301678605e+210" dist="3.9356798603357206e+209" dir="4.364718898309728e+245">
              <a:srgbClr val="8FB4D8">
                <a:alpha val="2.999999999999999e+25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364992"/>
            <a:ext cx="109728" cy="109728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3319272"/>
            <a:ext cx="4887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조합 단축키가 되지 않음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9808" y="3593592"/>
            <a:ext cx="51069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Ctrl + 클릭, Shift + 클릭처럼 모디파이어와 클릭을 함께 써야 하는 조작이 성립하지 않습니다.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471416"/>
            <a:ext cx="5509260" cy="1197864"/>
          </a:xfrm>
          <a:prstGeom prst="roundRect">
            <a:avLst>
              <a:gd name="adj" fmla="val 122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4991567113131827e+214" dist="4.9983134226263654e+213" dir="2.6188313389858368e+250">
              <a:srgbClr val="8FB4D8">
                <a:alpha val="2.999999999999999e+25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4636008"/>
            <a:ext cx="109728" cy="109728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590288"/>
            <a:ext cx="4887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요구사항과 정면 충돌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" y="4864608"/>
            <a:ext cx="51069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“손을 떼지 않은 채 드래그와 조합 단축키를 모두 수행”한다는 페르소나 요구 조건을 만족할 수 없습니다.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31052" y="1929384"/>
            <a:ext cx="5509260" cy="1197864"/>
          </a:xfrm>
          <a:prstGeom prst="roundRect">
            <a:avLst>
              <a:gd name="adj" fmla="val 122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173929023367742e+218" dist="6.347858046735484e+217" dir="1.571298803391502e+255">
              <a:srgbClr val="8FB4D8">
                <a:alpha val="2.999999999999999e+264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32220" y="2048256"/>
            <a:ext cx="274320" cy="274320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2220" y="21031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16268" y="2075688"/>
            <a:ext cx="47228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드래그 락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32220" y="2386584"/>
            <a:ext cx="51069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좌클릭 더블탭으로 버튼 눌림을 유지하고, 이동 후 한 번 더 탭해 해제합니다. 상용 트랙볼에 이미 있는 검증된 방식입니다.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31052" y="3200400"/>
            <a:ext cx="5509260" cy="1197864"/>
          </a:xfrm>
          <a:prstGeom prst="roundRect">
            <a:avLst>
              <a:gd name="adj" fmla="val 122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4.0308898596770327e+222" dist="8.061779719354066e+221" dir="9.427792820349012e+259">
              <a:srgbClr val="8FB4D8">
                <a:alpha val="2.999999999999999e+269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32220" y="3319272"/>
            <a:ext cx="274320" cy="274320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2220" y="33741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16268" y="3346704"/>
            <a:ext cx="47228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원샷 모디파이어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32220" y="3657600"/>
            <a:ext cx="51069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Ctrl을 탭하면 다음 입력 하나에만 적용되고 자동 해제됩니다. 더블탭은 잠금, 세 번째 탭은 해제입니다.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31052" y="4471416"/>
            <a:ext cx="5509260" cy="1197864"/>
          </a:xfrm>
          <a:prstGeom prst="roundRect">
            <a:avLst>
              <a:gd name="adj" fmla="val 122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.119230121789831e+226" dist="1.0238460243579663e+226" dir="5.656675692209407e+264">
              <a:srgbClr val="8FB4D8">
                <a:alpha val="2.9999999999999988e+274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32220" y="4590288"/>
            <a:ext cx="274320" cy="274320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32220" y="46451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716268" y="4617720"/>
            <a:ext cx="47228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역할 분리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32220" y="4928616"/>
            <a:ext cx="51069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엄지는 포인팅 전담, 네 손가락은 문자·기능 전담으로 나눕니다.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25806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  <a:effectLst>
            <a:outerShdw sx="100000" sy="100000" kx="0" ky="0" algn="bl" rotWithShape="0" blurRad="6.501422254673086e+230" dist="1.3002844509346172e+230" dir="3.3940054153256444e+269">
              <a:srgbClr val="8FB4D8">
                <a:alpha val="2.999999999999999e+279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68096" y="5815584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원샷 모디파이어는 Windows 고정키와 결과가 같지만 OS 설정을 건드리지 않습니다 — 설치 권한 제약을 그대로 만족합니다.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7FD"/>
          </a:solidFill>
          <a:ln w="12700">
            <a:solidFill>
              <a:srgbClr val="F1F7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A93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· 설계 심화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누운 자세에서는 기기보다 거치가 먼저 무너집니다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중력 방향과 시선 조건이 달라지면서, 앉은 자세를 전제로 한 고정·피드백 전략이 성립하지 않습니다.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D6E6F5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3A7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089904" y="1600200"/>
            <a:ext cx="9144" cy="4069080"/>
          </a:xfrm>
          <a:prstGeom prst="rect">
            <a:avLst/>
          </a:prstGeom>
          <a:solidFill>
            <a:srgbClr val="D6E6F5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00200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누운 자세가 바꾸는 조건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31052" y="1600200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그에 맞춘 거치 설계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9384"/>
            <a:ext cx="5509260" cy="880110"/>
          </a:xfrm>
          <a:prstGeom prst="roundRect">
            <a:avLst>
              <a:gd name="adj" fmla="val 166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.25680626343482e+234" dist="1.6513612526869638e+234" dir="2.0364032491953868e+274">
              <a:srgbClr val="8FB4D8">
                <a:alpha val="2.999999999999999e+28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2093976"/>
            <a:ext cx="109728" cy="109728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2048256"/>
            <a:ext cx="4887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중력 방향이 90° 바뀐다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2322576"/>
            <a:ext cx="510692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자중과 논슬립만으로 잡던 고정 전략이 무효가 됩니다.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882646"/>
            <a:ext cx="5509260" cy="880110"/>
          </a:xfrm>
          <a:prstGeom prst="roundRect">
            <a:avLst>
              <a:gd name="adj" fmla="val 166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048614395456222e+239" dist="2.097228790912444e+238" dir="1.221841949517232e+279">
              <a:srgbClr val="8FB4D8">
                <a:alpha val="2.999999999999999e+28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047238"/>
            <a:ext cx="109728" cy="109728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3001518"/>
            <a:ext cx="4887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손이 시야에서 사라진다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9808" y="3275838"/>
            <a:ext cx="510692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화면이 정면·머리 위에 있어 손을 내려다볼 수 없습니다. 블라인드 조작이 전제가 됩니다.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835908"/>
            <a:ext cx="5509260" cy="880110"/>
          </a:xfrm>
          <a:prstGeom prst="roundRect">
            <a:avLst>
              <a:gd name="adj" fmla="val 166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331740282229402e+243" dist="2.663480564458804e+242" dir="7.331051697103393e+283">
              <a:srgbClr val="8FB4D8">
                <a:alpha val="2.999999999999999e+29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4000500"/>
            <a:ext cx="109728" cy="109728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3954780"/>
            <a:ext cx="4887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LED 표시가 보이지 않는다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" y="4229100"/>
            <a:ext cx="510692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 옆의 LED는 시야 밖입니다. 상태 표시가 시각에 의존할 수 없습니다.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789170"/>
            <a:ext cx="5509260" cy="880110"/>
          </a:xfrm>
          <a:prstGeom prst="roundRect">
            <a:avLst>
              <a:gd name="adj" fmla="val 166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6913101584313406e+247" dist="3.3826203168626813e+246" dir="4.3986310182620354e+288">
              <a:srgbClr val="8FB4D8">
                <a:alpha val="2.999999999999999e+29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4953762"/>
            <a:ext cx="109728" cy="109728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4908042"/>
            <a:ext cx="4887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케이블을 늘어뜨릴 수 없다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9808" y="5182362"/>
            <a:ext cx="510692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얼굴과 목 위를 지나는 케이블은 체위 변경 때 걸리고 안전 문제도 됩니다.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31052" y="1929384"/>
            <a:ext cx="5509260" cy="880110"/>
          </a:xfrm>
          <a:prstGeom prst="roundRect">
            <a:avLst>
              <a:gd name="adj" fmla="val 166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1479639012078026e+251" dist="4.295927802415605e+250" dir="2.6391786109572213e+293">
              <a:srgbClr val="8FB4D8">
                <a:alpha val="2.999999999999999e+30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32220" y="2048256"/>
            <a:ext cx="274320" cy="274320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2220" y="21031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16268" y="2075688"/>
            <a:ext cx="47228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클램프 암 고정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32220" y="2386584"/>
            <a:ext cx="5106924" cy="31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침대 프레임에 클램프 암을 상시 고정하고, 기기를 손이 이미 놓인 위치로 가져옵니다.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31052" y="2882646"/>
            <a:ext cx="5509260" cy="880110"/>
          </a:xfrm>
          <a:prstGeom prst="roundRect">
            <a:avLst>
              <a:gd name="adj" fmla="val 166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7279141545339092e+255" dist="5.455828309067819e+254" dir="1.5835071665743328e+298">
              <a:srgbClr val="8FB4D8">
                <a:alpha val="Infinity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32220" y="3001518"/>
            <a:ext cx="274320" cy="274320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32220" y="305638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16268" y="3028950"/>
            <a:ext cx="47228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자석 원터치 탈착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32220" y="3339846"/>
            <a:ext cx="5106924" cy="31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체위 변경 후 사용자가 혼자 사용 자세로 복귀할 수 있도록 합니다.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31052" y="3835908"/>
            <a:ext cx="5509260" cy="880110"/>
          </a:xfrm>
          <a:prstGeom prst="roundRect">
            <a:avLst>
              <a:gd name="adj" fmla="val 166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464450976258065e+259" dist="6.928901952516129e+258" dir="9.501042999445996e+302">
              <a:srgbClr val="8FB4D8">
                <a:alpha val="Infinity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32220" y="3954780"/>
            <a:ext cx="274320" cy="274320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2220" y="400964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716268" y="3982212"/>
            <a:ext cx="47228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햅틱 피드백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332220" y="4293108"/>
            <a:ext cx="5106924" cy="31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LED 레이어 표시를 진동 또는 짧은 비프음 패턴으로 대체합니다.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31052" y="4789170"/>
            <a:ext cx="5509260" cy="880110"/>
          </a:xfrm>
          <a:prstGeom prst="roundRect">
            <a:avLst>
              <a:gd name="adj" fmla="val 166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4.3998527398477425e+263" dist="8.799705479695485e+262" dir="5.700625799667598e+307">
              <a:srgbClr val="8FB4D8">
                <a:alpha val="Infinity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332220" y="4908042"/>
            <a:ext cx="274320" cy="274320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32220" y="496290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716268" y="4935474"/>
            <a:ext cx="47228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BLE 우선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332220" y="5246370"/>
            <a:ext cx="5106924" cy="31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무선을 기본 연결로 두고, USB-C는 충전과 설정용으로 사용합니다.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25806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  <a:effectLst>
            <a:outerShdw sx="100000" sy="100000" kx="0" ky="0" algn="bl" rotWithShape="0" blurRad="5.587812979606633e+267" dist="1.1175625959213265e+267" dir="Infinity">
              <a:srgbClr val="8FB4D8">
                <a:alpha val="Infinity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68096" y="5815584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사용자군의 진짜 실패 지점은 성능이 아니라 ‘부탁의 횟수’입니다. 한 번 설치하면 체위가 바뀌어도 혼자 복귀할 수 있어야 합니다.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7FD"/>
          </a:solidFill>
          <a:ln w="12700">
            <a:solidFill>
              <a:srgbClr val="F1F7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A93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· 설계 심화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드라이버 없이 한글을 입력하는 경로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펌웨어가 자모를 확정해 두벌식 스캔코드로 방출하고, 음절 조합은 운영체제 IME가 담당합니다.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D6E6F5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3A7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13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2057400" cy="1672414"/>
          </a:xfrm>
          <a:prstGeom prst="roundRect">
            <a:avLst>
              <a:gd name="adj" fmla="val 87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.096522484100425e+271" dist="1.4193044968200846e+271" dir="Infinity">
              <a:srgbClr val="8FB4D8">
                <a:alpha val="Infinity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1709928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토글 입력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2130552"/>
            <a:ext cx="1837944" cy="1032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4개 × 3동작 × 2 BANK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06040" y="1600200"/>
            <a:ext cx="201168" cy="1672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93A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07208" y="1600200"/>
            <a:ext cx="2057400" cy="1672414"/>
          </a:xfrm>
          <a:prstGeom prst="roundRect">
            <a:avLst>
              <a:gd name="adj" fmla="val 87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9.01258355480754e+275" dist="1.8025167109615074e+275" dir="Infinity">
              <a:srgbClr val="8FB4D8">
                <a:alpha val="Infinity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16936" y="1709928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펌웨어 상태머신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16936" y="2130552"/>
            <a:ext cx="1837944" cy="1032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입력열을 자모로 해석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64608" y="1600200"/>
            <a:ext cx="201168" cy="1672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93A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65776" y="1600200"/>
            <a:ext cx="2057400" cy="1672414"/>
          </a:xfrm>
          <a:prstGeom prst="roundRect">
            <a:avLst>
              <a:gd name="adj" fmla="val 87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1445981114605575e+280" dist="2.2891962229211143e+279" dir="Infinity">
              <a:srgbClr val="8FB4D8">
                <a:alpha val="Infinity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75504" y="1709928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자모 확정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75504" y="2130552"/>
            <a:ext cx="1837944" cy="1032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확정 지연 버퍼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123176" y="1600200"/>
            <a:ext cx="201168" cy="1672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93A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24344" y="1600200"/>
            <a:ext cx="2057400" cy="1672414"/>
          </a:xfrm>
          <a:prstGeom prst="roundRect">
            <a:avLst>
              <a:gd name="adj" fmla="val 87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453639601554908e+284" dist="2.9072792031098153e+283" dir="Infinity">
              <a:srgbClr val="8FB4D8">
                <a:alpha val="Infinity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34072" y="1709928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두벌식 스캔코드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34072" y="2130552"/>
            <a:ext cx="1837944" cy="1032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표준 HID 키보드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381744" y="1600200"/>
            <a:ext cx="201168" cy="1672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93A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582912" y="1600200"/>
            <a:ext cx="2057400" cy="1672414"/>
          </a:xfrm>
          <a:prstGeom prst="roundRect">
            <a:avLst>
              <a:gd name="adj" fmla="val 8748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  <a:effectLst>
            <a:outerShdw sx="100000" sy="100000" kx="0" ky="0" algn="bl" rotWithShape="0" blurRad="1.846122293974733e+288" dist="3.6922445879494656e+287" dir="Infinity">
              <a:srgbClr val="8FB4D8">
                <a:alpha val="Infinity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92640" y="1709928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OS IME가 음절 조합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92640" y="2130552"/>
            <a:ext cx="1837944" cy="1032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설치·권한 불필요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8640" y="330919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93A7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 번째 단계부터는 완전한 표준 HID입니다. 장치는 IME를 흉내내지 않고, IME에게 두벌식으로 말을 겁니다.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8640" y="3620086"/>
            <a:ext cx="5509260" cy="2049194"/>
          </a:xfrm>
          <a:prstGeom prst="roundRect">
            <a:avLst>
              <a:gd name="adj" fmla="val 71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344575313347911e+292" dist="4.6891506266958215e+291" dir="Infinity">
              <a:srgbClr val="8FB4D8">
                <a:alpha val="Infinity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9808" y="3784678"/>
            <a:ext cx="109728" cy="109728"/>
          </a:xfrm>
          <a:prstGeom prst="ellipse">
            <a:avLst/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" y="3738958"/>
            <a:ext cx="4887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확정 지연 (Commit Delay)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9808" y="4013278"/>
            <a:ext cx="5106924" cy="1546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모음이 확정될 때까지 스캔코드 방출을 보류합니다. 다음 자음이 입력되거나 유휴 시간이 지나면 한 번에 방출하므로, 백스페이스로 이미 보낸 키를 회수할 필요가 없습니다.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조합 중 백스페이스의 동작이 자모 단위인지 음절 단위인지는 운영체제마다 다릅니다. 회수를 아예 쓰지 않는 것이 이 차이를 피하는 방법입니다.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실사용에서는 다음 자음이 곧바로 입력되므로 체감 지연이 거의 없습니다.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31052" y="3620086"/>
            <a:ext cx="5509260" cy="652585"/>
          </a:xfrm>
          <a:prstGeom prst="roundRect">
            <a:avLst>
              <a:gd name="adj" fmla="val 15413"/>
            </a:avLst>
          </a:prstGeom>
          <a:solidFill>
            <a:srgbClr val="E2EFFB"/>
          </a:solidFill>
          <a:ln w="12700">
            <a:solidFill>
              <a:srgbClr val="E2EFF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13932" y="3674950"/>
            <a:ext cx="1143000" cy="54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한/영 전환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584948" y="3674950"/>
            <a:ext cx="3872484" cy="54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OS 기본 경로(HID LANG1) 사용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31052" y="4318391"/>
            <a:ext cx="5509260" cy="652585"/>
          </a:xfrm>
          <a:prstGeom prst="roundRect">
            <a:avLst>
              <a:gd name="adj" fmla="val 154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13932" y="4373255"/>
            <a:ext cx="1143000" cy="54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모드 전환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584948" y="4373255"/>
            <a:ext cx="3872484" cy="54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MODE 키로 영문 → 한글 → 숫자·기호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31052" y="5016695"/>
            <a:ext cx="5509260" cy="652585"/>
          </a:xfrm>
          <a:prstGeom prst="roundRect">
            <a:avLst>
              <a:gd name="adj" fmla="val 15413"/>
            </a:avLst>
          </a:prstGeom>
          <a:solidFill>
            <a:srgbClr val="E2EFFB"/>
          </a:solidFill>
          <a:ln w="12700">
            <a:solidFill>
              <a:srgbClr val="E2EFF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13932" y="5071559"/>
            <a:ext cx="1143000" cy="54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상태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84948" y="5071559"/>
            <a:ext cx="3872484" cy="54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OS별 IME 실측 미완료 — 최우선 검증 항목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25806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  <a:effectLst>
            <a:outerShdw sx="100000" sy="100000" kx="0" ky="0" algn="bl" rotWithShape="0" blurRad="2.9776106479518472e+296" dist="5.955221295903693e+295" dir="Infinity">
              <a:srgbClr val="8FB4D8">
                <a:alpha val="Infinity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68096" y="5815584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“드라이버 없이 어떻게 한글이 입력되는가”는 심사에서 가장 먼저 나올 질문이며, 이 경로가 그 답입니다.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7FD"/>
          </a:solidFill>
          <a:ln w="12700">
            <a:solidFill>
              <a:srgbClr val="F1F7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A93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 · 검증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‘분당 100타’를 어떻게 증명할 것인가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목표 타수를 입력당 소요 시간으로 환산하고, 단계별 측정 계획으로 근거를 만듭니다.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D6E6F5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3A7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14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6492240"/>
            <a:ext cx="3410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3A7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‘타’는 한국 타자 검정 기준의 자모 1타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1600200"/>
            <a:ext cx="5509260" cy="1354741"/>
          </a:xfrm>
          <a:prstGeom prst="roundRect">
            <a:avLst>
              <a:gd name="adj" fmla="val 10799"/>
            </a:avLst>
          </a:prstGeom>
          <a:solidFill>
            <a:srgbClr val="FFFFFF"/>
          </a:solidFill>
          <a:ln w="19050">
            <a:solidFill>
              <a:srgbClr val="4A9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691640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4A93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100타/분 = 초당 2.7입력 = 입력당 약 220ms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2057400"/>
            <a:ext cx="5106924" cy="806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한글 1음절 ≈ 자모 2.7개, 자모 1개당 평균 입력 약 1.6회로 환산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31052" y="1600200"/>
            <a:ext cx="1146429" cy="677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 · 표준 키보드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68921" y="1820013"/>
            <a:ext cx="3448431" cy="237744"/>
          </a:xfrm>
          <a:prstGeom prst="roundRect">
            <a:avLst>
              <a:gd name="adj" fmla="val 50000"/>
            </a:avLst>
          </a:prstGeom>
          <a:solidFill>
            <a:srgbClr val="E2EFFB"/>
          </a:solidFill>
          <a:ln w="12700">
            <a:solidFill>
              <a:srgbClr val="E2EF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68921" y="1820013"/>
            <a:ext cx="1253975" cy="237744"/>
          </a:xfrm>
          <a:prstGeom prst="roundRect">
            <a:avLst>
              <a:gd name="adj" fmla="val 50000"/>
            </a:avLst>
          </a:prstGeom>
          <a:solidFill>
            <a:srgbClr val="BEDCF7"/>
          </a:solidFill>
          <a:ln w="12700">
            <a:solidFill>
              <a:srgbClr val="BEDC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27080" y="1600200"/>
            <a:ext cx="713232" cy="677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40타/분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31052" y="2277570"/>
            <a:ext cx="1146429" cy="677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 목표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68921" y="2497384"/>
            <a:ext cx="3448431" cy="237744"/>
          </a:xfrm>
          <a:prstGeom prst="roundRect">
            <a:avLst>
              <a:gd name="adj" fmla="val 50000"/>
            </a:avLst>
          </a:prstGeom>
          <a:solidFill>
            <a:srgbClr val="E2EFFB"/>
          </a:solidFill>
          <a:ln w="12700">
            <a:solidFill>
              <a:srgbClr val="E2EF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68921" y="2497384"/>
            <a:ext cx="3134937" cy="237744"/>
          </a:xfrm>
          <a:prstGeom prst="roundRect">
            <a:avLst>
              <a:gd name="adj" fmla="val 50000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27080" y="2277570"/>
            <a:ext cx="713232" cy="677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100타/분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028093"/>
            <a:ext cx="11091672" cy="329184"/>
          </a:xfrm>
          <a:prstGeom prst="roundRect">
            <a:avLst>
              <a:gd name="adj" fmla="val 30556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073813"/>
            <a:ext cx="2196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단계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12238" y="3073813"/>
            <a:ext cx="5564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내용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279050" y="3073813"/>
            <a:ext cx="2196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시점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402997"/>
            <a:ext cx="11091672" cy="518565"/>
          </a:xfrm>
          <a:prstGeom prst="roundRect">
            <a:avLst>
              <a:gd name="adj" fmla="val 193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448717"/>
            <a:ext cx="2196670" cy="42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기준선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12238" y="3448717"/>
            <a:ext cx="5564476" cy="42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손으로 표준 두벌식 키보드 사용 시 분당 40타 (페르소나 설정값)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279050" y="3448717"/>
            <a:ext cx="2196670" cy="42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설정 완료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3967282"/>
            <a:ext cx="11091672" cy="518565"/>
          </a:xfrm>
          <a:prstGeom prst="roundRect">
            <a:avLst>
              <a:gd name="adj" fmla="val 19397"/>
            </a:avLst>
          </a:prstGeom>
          <a:solidFill>
            <a:srgbClr val="E2EFFB"/>
          </a:solidFill>
          <a:ln w="12700">
            <a:solidFill>
              <a:srgbClr val="E2EF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4013002"/>
            <a:ext cx="2196670" cy="42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웹 트레이너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12238" y="4013002"/>
            <a:ext cx="5564476" cy="42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실기 없이 배열만으로 도달 가능한 타수 측정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279050" y="4013002"/>
            <a:ext cx="2196670" cy="42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하드웨어 완성 전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531566"/>
            <a:ext cx="11091672" cy="518565"/>
          </a:xfrm>
          <a:prstGeom prst="roundRect">
            <a:avLst>
              <a:gd name="adj" fmla="val 193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4577286"/>
            <a:ext cx="2196670" cy="42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팀원 학습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12238" y="4577286"/>
            <a:ext cx="5564476" cy="42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4인이 30분 학습 후 초기 습득 속도와 오타율 측정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279050" y="4577286"/>
            <a:ext cx="2196670" cy="42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시제품 완성 직후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5095851"/>
            <a:ext cx="11091672" cy="518565"/>
          </a:xfrm>
          <a:prstGeom prst="roundRect">
            <a:avLst>
              <a:gd name="adj" fmla="val 19397"/>
            </a:avLst>
          </a:prstGeom>
          <a:solidFill>
            <a:srgbClr val="E2EFFB"/>
          </a:solidFill>
          <a:ln w="12700">
            <a:solidFill>
              <a:srgbClr val="E2EFF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5141571"/>
            <a:ext cx="2196670" cy="42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시연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12238" y="5141571"/>
            <a:ext cx="5564476" cy="42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문장 입력 + 웹 브라우징 (드래그·조합 단축키 포함)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279050" y="5141571"/>
            <a:ext cx="2196670" cy="42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발표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5687568"/>
            <a:ext cx="11091672" cy="621792"/>
          </a:xfrm>
          <a:prstGeom prst="roundRect">
            <a:avLst>
              <a:gd name="adj" fmla="val 23529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  <a:effectLst>
            <a:outerShdw sx="100000" sy="100000" kx="0" ky="0" algn="bl" rotWithShape="0" blurRad="3.781565522898846e+300" dist="7.56313104579769e+299" dir="Infinity">
              <a:srgbClr val="8FB4D8">
                <a:alpha val="Infinity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68096" y="5760720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발표에서는 ‘100타 달성’이 아니라 학습곡선의 초기 기울기를 근거로 제시합니다. 시연에는 드래그와 조합 단축키를 반드시 포함합니다.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7FD"/>
          </a:solidFill>
          <a:ln w="12700">
            <a:solidFill>
              <a:srgbClr val="F1F7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A93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 · 리스크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원가와 미검증 항목을 함께 공개합니다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아래 수치는 실견적이 아닌 추정치입니다. 확정 전까지 추정임을 표시한 채로 사용합니다.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D6E6F5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3A7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15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6492240"/>
            <a:ext cx="3410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3A7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단가는 상용 부품 유용을 전제한 추정치 · 실견적 필요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538978" y="1600200"/>
            <a:ext cx="9144" cy="4069080"/>
          </a:xfrm>
          <a:prstGeom prst="rect">
            <a:avLst/>
          </a:prstGeom>
          <a:solidFill>
            <a:srgbClr val="D6E6F5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00200"/>
            <a:ext cx="4958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개략 원가 (1대 기준, 추정)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80126" y="1600200"/>
            <a:ext cx="60601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미검증 항목과 확신도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1929384"/>
            <a:ext cx="914400" cy="66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본체 부품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554480" y="2140849"/>
            <a:ext cx="3129534" cy="237744"/>
          </a:xfrm>
          <a:prstGeom prst="roundRect">
            <a:avLst>
              <a:gd name="adj" fmla="val 50000"/>
            </a:avLst>
          </a:prstGeom>
          <a:solidFill>
            <a:srgbClr val="E2EFFB"/>
          </a:solidFill>
          <a:ln w="12700">
            <a:solidFill>
              <a:srgbClr val="E2EF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2140849"/>
            <a:ext cx="2064847" cy="237744"/>
          </a:xfrm>
          <a:prstGeom prst="roundRect">
            <a:avLst>
              <a:gd name="adj" fmla="val 50000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3742" y="1929384"/>
            <a:ext cx="713232" cy="66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96,000원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2590059"/>
            <a:ext cx="914400" cy="66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거치 부품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554480" y="2801524"/>
            <a:ext cx="3129534" cy="237744"/>
          </a:xfrm>
          <a:prstGeom prst="roundRect">
            <a:avLst>
              <a:gd name="adj" fmla="val 50000"/>
            </a:avLst>
          </a:prstGeom>
          <a:solidFill>
            <a:srgbClr val="E2EFFB"/>
          </a:solidFill>
          <a:ln w="12700">
            <a:solidFill>
              <a:srgbClr val="E2EF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2801524"/>
            <a:ext cx="1064687" cy="237744"/>
          </a:xfrm>
          <a:prstGeom prst="roundRect">
            <a:avLst>
              <a:gd name="adj" fmla="val 50000"/>
            </a:avLst>
          </a:prstGeom>
          <a:solidFill>
            <a:srgbClr val="BEDCF7"/>
          </a:solidFill>
          <a:ln w="12700">
            <a:solidFill>
              <a:srgbClr val="BEDC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3742" y="2590059"/>
            <a:ext cx="713232" cy="66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49,500원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250733"/>
            <a:ext cx="914400" cy="66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합계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554480" y="3462198"/>
            <a:ext cx="3129534" cy="237744"/>
          </a:xfrm>
          <a:prstGeom prst="roundRect">
            <a:avLst>
              <a:gd name="adj" fmla="val 50000"/>
            </a:avLst>
          </a:prstGeom>
          <a:solidFill>
            <a:srgbClr val="E2EFFB"/>
          </a:solidFill>
          <a:ln w="12700">
            <a:solidFill>
              <a:srgbClr val="E2EF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54480" y="3462198"/>
            <a:ext cx="3129534" cy="237744"/>
          </a:xfrm>
          <a:prstGeom prst="roundRect">
            <a:avLst>
              <a:gd name="adj" fmla="val 50000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93742" y="3250733"/>
            <a:ext cx="713232" cy="66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145,500원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984560"/>
            <a:ext cx="4958334" cy="819500"/>
          </a:xfrm>
          <a:prstGeom prst="roundRect">
            <a:avLst>
              <a:gd name="adj" fmla="val 12274"/>
            </a:avLst>
          </a:prstGeom>
          <a:solidFill>
            <a:srgbClr val="E2EFFB"/>
          </a:solidFill>
          <a:ln w="12700">
            <a:solidFill>
              <a:srgbClr val="E2EF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039424"/>
            <a:ext cx="960120" cy="709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조달 리스크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19656" y="4039424"/>
            <a:ext cx="3504438" cy="709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광센서 국내 유통 제한 — 리드타임 확인이 최우선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4849780"/>
            <a:ext cx="4958334" cy="819500"/>
          </a:xfrm>
          <a:prstGeom prst="roundRect">
            <a:avLst>
              <a:gd name="adj" fmla="val 12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904644"/>
            <a:ext cx="960120" cy="709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대체안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19656" y="4904644"/>
            <a:ext cx="3504438" cy="709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시판 엄지 트랙볼에서 센서·볼 조립체 하베스팅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80126" y="1929384"/>
            <a:ext cx="6060186" cy="329184"/>
          </a:xfrm>
          <a:prstGeom prst="roundRect">
            <a:avLst>
              <a:gd name="adj" fmla="val 30556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4718" y="1975104"/>
            <a:ext cx="19024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항목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49524" y="1975104"/>
            <a:ext cx="6750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확신도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126920" y="1975104"/>
            <a:ext cx="234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근거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80126" y="2304288"/>
            <a:ext cx="6060186" cy="505227"/>
          </a:xfrm>
          <a:prstGeom prst="roundRect">
            <a:avLst>
              <a:gd name="adj" fmla="val 19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44718" y="2350008"/>
            <a:ext cx="1902470" cy="413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두벌식 스캔코드 변환 방식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49524" y="2350008"/>
            <a:ext cx="675060" cy="413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높음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26920" y="2350008"/>
            <a:ext cx="2348800" cy="413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HID 표준 동작에서 직접 도출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580126" y="2855235"/>
            <a:ext cx="6060186" cy="505227"/>
          </a:xfrm>
          <a:prstGeom prst="roundRect">
            <a:avLst>
              <a:gd name="adj" fmla="val 19909"/>
            </a:avLst>
          </a:prstGeom>
          <a:solidFill>
            <a:srgbClr val="E2EFFB"/>
          </a:solidFill>
          <a:ln w="12700">
            <a:solidFill>
              <a:srgbClr val="E2EFF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44718" y="2900955"/>
            <a:ext cx="1902470" cy="413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확정 지연의 OS별 실제 동작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9524" y="2900955"/>
            <a:ext cx="675060" cy="413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126920" y="2900955"/>
            <a:ext cx="2348800" cy="413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미검증 — 최우선 검증 항목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580126" y="3406181"/>
            <a:ext cx="6060186" cy="505227"/>
          </a:xfrm>
          <a:prstGeom prst="roundRect">
            <a:avLst>
              <a:gd name="adj" fmla="val 19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44718" y="3451901"/>
            <a:ext cx="1902470" cy="413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그립각 · 스위치 작동력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49524" y="3451901"/>
            <a:ext cx="675060" cy="413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126920" y="3451901"/>
            <a:ext cx="2348800" cy="413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추정치, 수요자 멘토링 검증 필요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580126" y="3984560"/>
            <a:ext cx="6060186" cy="819500"/>
          </a:xfrm>
          <a:prstGeom prst="roundRect">
            <a:avLst>
              <a:gd name="adj" fmla="val 12274"/>
            </a:avLst>
          </a:prstGeom>
          <a:solidFill>
            <a:srgbClr val="E2EFFB"/>
          </a:solidFill>
          <a:ln w="12700">
            <a:solidFill>
              <a:srgbClr val="E2EFF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63006" y="4039424"/>
            <a:ext cx="1143000" cy="709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BOM 단가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034022" y="4039424"/>
            <a:ext cx="4423410" cy="709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— 추정치이며 실측 견적이 아님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580126" y="4849780"/>
            <a:ext cx="6060186" cy="819500"/>
          </a:xfrm>
          <a:prstGeom prst="roundRect">
            <a:avLst>
              <a:gd name="adj" fmla="val 12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63006" y="4904644"/>
            <a:ext cx="1143000" cy="709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분당 100타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034022" y="4904644"/>
            <a:ext cx="4423410" cy="709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— 계산상 가능하나 실측 없음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25806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  <a:effectLst>
            <a:outerShdw sx="100000" sy="100000" kx="0" ky="0" algn="bl" rotWithShape="0" blurRad="4.802588214081535e+304" dist="9.605176428163068e+303" dir="Infinity">
              <a:srgbClr val="8FB4D8">
                <a:alpha val="Infinity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768096" y="5815584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추정치를 확정값처럼 제시하지 않는 것이 이 프로젝트의 원칙입니다. 검증 전 항목은 모두 등급을 붙여 표기합니다.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7E9FA"/>
          </a:solidFill>
          <a:ln w="12700">
            <a:solidFill>
              <a:srgbClr val="D7E9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A93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정리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수정본 핵심 변경사항 요약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다섯 영역의 변경은 모두 하나의 판단에서 나왔습니다 — 장치를 사용자에게 맞춰 고정한다.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B7D5F0"/>
          </a:solidFill>
          <a:ln w="12700">
            <a:solidFill>
              <a:srgbClr val="B7D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11091672" cy="329184"/>
          </a:xfrm>
          <a:prstGeom prst="roundRect">
            <a:avLst>
              <a:gd name="adj" fmla="val 30556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645920"/>
            <a:ext cx="13810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영역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96598" y="1645920"/>
            <a:ext cx="39463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45284" y="1645920"/>
            <a:ext cx="46304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1975104"/>
            <a:ext cx="11091672" cy="687629"/>
          </a:xfrm>
          <a:prstGeom prst="roundRect">
            <a:avLst>
              <a:gd name="adj" fmla="val 146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020824"/>
            <a:ext cx="1381030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컨셉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96598" y="2020824"/>
            <a:ext cx="3946350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이동식 하이브리드 입력장치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45284" y="2020824"/>
            <a:ext cx="4630436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 위치에 고정되는 고정형 입력장치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708453"/>
            <a:ext cx="11091672" cy="687629"/>
          </a:xfrm>
          <a:prstGeom prst="roundRect">
            <a:avLst>
              <a:gd name="adj" fmla="val 14628"/>
            </a:avLst>
          </a:prstGeom>
          <a:solidFill>
            <a:srgbClr val="E2EFFB"/>
          </a:solidFill>
          <a:ln w="12700">
            <a:solidFill>
              <a:srgbClr val="E2EF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754173"/>
            <a:ext cx="1381030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문제정의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96598" y="2754173"/>
            <a:ext cx="3946350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책상 환경의 한 손 사용자 중심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45284" y="2754173"/>
            <a:ext cx="4630436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침대를 사용하는 신경근육질환자까지 확장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441802"/>
            <a:ext cx="11091672" cy="687629"/>
          </a:xfrm>
          <a:prstGeom prst="roundRect">
            <a:avLst>
              <a:gd name="adj" fmla="val 146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487522"/>
            <a:ext cx="1381030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페르소나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96598" y="3487522"/>
            <a:ext cx="3946350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뇌졸중 편마비 사무직 (47세)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45284" y="3487522"/>
            <a:ext cx="4630436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신경근육질환 재택 근무자 (35세)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175150"/>
            <a:ext cx="11091672" cy="687629"/>
          </a:xfrm>
          <a:prstGeom prst="roundRect">
            <a:avLst>
              <a:gd name="adj" fmla="val 14628"/>
            </a:avLst>
          </a:prstGeom>
          <a:solidFill>
            <a:srgbClr val="E2EFFB"/>
          </a:solidFill>
          <a:ln w="12700">
            <a:solidFill>
              <a:srgbClr val="E2EF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220870"/>
            <a:ext cx="1381030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설계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96598" y="4220870"/>
            <a:ext cx="3946350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 손가락 다방향 스위치, 이동식 본체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45284" y="4220870"/>
            <a:ext cx="4630436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지지부 신설로 BANK A/B 전환, 토글 스위치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908499"/>
            <a:ext cx="11091672" cy="687629"/>
          </a:xfrm>
          <a:prstGeom prst="roundRect">
            <a:avLst>
              <a:gd name="adj" fmla="val 146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4954219"/>
            <a:ext cx="1381030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부품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96598" y="4954219"/>
            <a:ext cx="3946350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ESP32-S3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45284" y="4954219"/>
            <a:ext cx="4630436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1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Seeed XIAO nRF52840 Plus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5669280"/>
            <a:ext cx="11091672" cy="640080"/>
          </a:xfrm>
          <a:prstGeom prst="roundRect">
            <a:avLst>
              <a:gd name="adj" fmla="val 22857"/>
            </a:avLst>
          </a:prstGeom>
          <a:solidFill>
            <a:srgbClr val="4A93E8"/>
          </a:solidFill>
          <a:ln w="12700">
            <a:solidFill>
              <a:srgbClr val="4A93E8"/>
            </a:solidFill>
            <a:prstDash val="solid"/>
          </a:ln>
          <a:effectLst>
            <a:outerShdw sx="100000" sy="100000" kx="0" ky="0" algn="bl" rotWithShape="0" blurRad="Infinity" dist="1.2198574063767096e+308" dir="Infinity">
              <a:srgbClr val="8FB4D8">
                <a:alpha val="Infinity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68096" y="5742432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034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완성된 결과물은 3D 도면과 펌웨어를 공개해, 필요한 사용자가 저비용으로 직접 제작하고 자신의 신체 조건에 맞게 수정할 수 있도록 하는 것이 최종 목표입니다.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신청서 수정사항 보고 — 팀 딸깍</dc:title>
  <dc:subject>PptxGenJS Presentation</dc:subject>
  <dc:creator>팀 딸깍</dc:creator>
  <cp:lastModifiedBy>팀 딸깍</cp:lastModifiedBy>
  <cp:revision>1</cp:revision>
  <dcterms:created xsi:type="dcterms:W3CDTF">2026-08-09T02:01:18Z</dcterms:created>
  <dcterms:modified xsi:type="dcterms:W3CDTF">2026-08-09T02:01:18Z</dcterms:modified>
</cp:coreProperties>
</file>