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 ·  ‘컴퓨터 및 전자기기 접근성 보조기기’ 부문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61518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신청서 수정 사항 보고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5295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손의 잔존 손가락 움직임으로 키보드와 마우스를 통합 제어하는 고정형 입력장치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33088"/>
            <a:ext cx="3657600" cy="1828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708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딸깍   ·   김민섭 · 윤홍민 · 장재원 · 김예진   ·   동국대 전자전기공학부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참가신청서 대비 변경 내용 및 설계 심화 정리 · 2026.08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무엇이 달라졌는가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사용자 범위와 사용 환경을 재정의하고, 컨셉·페르소나·하드웨어 구조를 함께 조정했습니다.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65367" y="1600200"/>
            <a:ext cx="9144" cy="47091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7847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변경된 네 가지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6515" y="1600200"/>
            <a:ext cx="5233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변경하지 않은 전제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784723" cy="966978"/>
          </a:xfrm>
          <a:prstGeom prst="roundRect">
            <a:avLst>
              <a:gd name="adj" fmla="val 151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2020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2075688"/>
            <a:ext cx="49251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컨셉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386584"/>
            <a:ext cx="5382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이동식 하이브리드 입력장치 → 손이 놓이는 위치에 고정되는 고정형 입력장치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969514"/>
            <a:ext cx="5784723" cy="966978"/>
          </a:xfrm>
          <a:prstGeom prst="roundRect">
            <a:avLst>
              <a:gd name="adj" fmla="val 151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258060000" dist="483870000" dir="324000000000">
              <a:srgbClr val="000000">
                <a:alpha val="12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06095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3115818"/>
            <a:ext cx="49251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3426714"/>
            <a:ext cx="5382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확장 — 신경근육질환·척수손상 등 침대 사용 환경 추가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009644"/>
            <a:ext cx="5784723" cy="966978"/>
          </a:xfrm>
          <a:prstGeom prst="roundRect">
            <a:avLst>
              <a:gd name="adj" fmla="val 151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8677362000000" dist="6145149000000" dir="19440000000000000">
              <a:srgbClr val="000000">
                <a:alpha val="1200000000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41010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07008" y="4155948"/>
            <a:ext cx="49251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페르소나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466844"/>
            <a:ext cx="5382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뇌졸중 편마비 사무직(47세) → 신경근육질환 재택 근무자(35세), 침대 환경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049774"/>
            <a:ext cx="5784723" cy="966978"/>
          </a:xfrm>
          <a:prstGeom prst="roundRect">
            <a:avLst>
              <a:gd name="adj" fmla="val 151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364202497400000000" dist="78043392300000000" dir="1.1664e+21">
              <a:srgbClr val="000000">
                <a:alpha val="120000000000000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" y="514121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07008" y="5196078"/>
            <a:ext cx="49251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하드웨어 설계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5506974"/>
            <a:ext cx="5382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지지부·BANK 전환 구조 신설, 제어부를 Seeed XIAO nRF52840 Plus로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6515" y="1929384"/>
            <a:ext cx="5233797" cy="966978"/>
          </a:xfrm>
          <a:prstGeom prst="roundRect">
            <a:avLst>
              <a:gd name="adj" fmla="val 151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4.62537171698e+21" dist="991151082210000000000" dir="6.9984e+25">
              <a:srgbClr val="000000">
                <a:alpha val="1.2e+24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07683" y="2048256"/>
            <a:ext cx="4831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설치 불필요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07683" y="2322576"/>
            <a:ext cx="4831461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운영체제 표준 HID 복합 장치로 동작. 설치 권한이 없는 PC에서도 연결 즉시 사용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6515" y="2969514"/>
            <a:ext cx="5233797" cy="966978"/>
          </a:xfrm>
          <a:prstGeom prst="roundRect">
            <a:avLst>
              <a:gd name="adj" fmla="val 151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5.8742220805646e+25" dist="1.2587618744067e+25" dir="4.19904e+30">
              <a:srgbClr val="000000">
                <a:alpha val="1.2e+29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07683" y="3088386"/>
            <a:ext cx="4831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트랙볼 기반 포인팅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07683" y="3362706"/>
            <a:ext cx="4831461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전체를 움직이지 않고 엄지만으로 커서를 360도 제어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6515" y="4009644"/>
            <a:ext cx="5233797" cy="966978"/>
          </a:xfrm>
          <a:prstGeom prst="roundRect">
            <a:avLst>
              <a:gd name="adj" fmla="val 151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7.460262042317042e+29" dist="1.598627580496509e+29" dir="2.519424e+35">
              <a:srgbClr val="000000">
                <a:alpha val="1.2e+34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07683" y="4128516"/>
            <a:ext cx="4831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 안에서 완결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07683" y="4402836"/>
            <a:ext cx="4831461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장치에서 떼지 않은 채 문자 입력과 커서 제어를 모두 수행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6515" y="5049774"/>
            <a:ext cx="5233797" cy="966978"/>
          </a:xfrm>
          <a:prstGeom prst="roundRect">
            <a:avLst>
              <a:gd name="adj" fmla="val 151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9.474532793742643e+33" dist="2.0302570272305663e+33" dir="1.5116544e+40">
              <a:srgbClr val="000000">
                <a:alpha val="1.1999999999999999e+39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07683" y="5168646"/>
            <a:ext cx="4831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도면·펌웨어 공개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07683" y="5442966"/>
            <a:ext cx="4831461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완성 후 3D 도면과 펌웨어를 공개해 저비용 자가 제작과 개인별 수정을 허용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6089904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변경의 방향은 “기능 추가”가 아니라 “사용 환경의 재정의”입니다.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컨셉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 한줄소개, 이렇게 바뀌었습니다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조작 방식 중심의 서술에서, 사용자의 잔존 움직임과 거치 조건을 전제로 한 서술로 전환했습니다.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509260" cy="1529306"/>
          </a:xfrm>
          <a:prstGeom prst="roundRect">
            <a:avLst>
              <a:gd name="adj" fmla="val 956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2032656648053156e+38" dist="2.578426424582819e+37" dir="9.069926400000001e+44">
              <a:srgbClr val="000000">
                <a:alpha val="1.1999999999999999e+4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1709928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49808" y="1929384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 전용 하이브리드 입력장치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221992"/>
            <a:ext cx="5106924" cy="79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‘인체공학적 버티컬 구조’와 ‘트랙볼 기반 통합 제어’를 핵심으로 하는 한 손 전용 하이브리드 입력장치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1052" y="1600200"/>
            <a:ext cx="5509260" cy="1529306"/>
          </a:xfrm>
          <a:prstGeom prst="roundRect">
            <a:avLst>
              <a:gd name="adj" fmla="val 9567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1.528147394302751e+42" dist="3.2746015592201804e+41" dir="5.44195584e+49">
              <a:srgbClr val="000000">
                <a:alpha val="1.2e+4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2220" y="1709928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32220" y="1929384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고정형 통합 입력장치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2220" y="2221992"/>
            <a:ext cx="5106924" cy="79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손의 잔존 손가락 움직임으로 키보드와 마우스를 통합 제어하는 고정형 입력장치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202658"/>
            <a:ext cx="11091672" cy="329184"/>
          </a:xfrm>
          <a:prstGeom prst="roundRect">
            <a:avLst>
              <a:gd name="adj" fmla="val 27778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24837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97480" y="324837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0296" y="3248378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77562"/>
            <a:ext cx="11091672" cy="488640"/>
          </a:xfrm>
          <a:prstGeom prst="roundRect">
            <a:avLst>
              <a:gd name="adj" fmla="val 1871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623282"/>
            <a:ext cx="1581912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장치의 위치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623282"/>
            <a:ext cx="3840480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사용자가 손으로 밀어 움직임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0296" y="3623282"/>
            <a:ext cx="4535424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손이 놓이는 위치·각도에 고정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11921"/>
            <a:ext cx="11091672" cy="488640"/>
          </a:xfrm>
          <a:prstGeom prst="roundRect">
            <a:avLst>
              <a:gd name="adj" fmla="val 18713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157641"/>
            <a:ext cx="1581912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전제 능력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97480" y="4157641"/>
            <a:ext cx="3840480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손을 자유롭게 옮길 수 있음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0296" y="4157641"/>
            <a:ext cx="4535424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이동 없이 손가락만 움직일 수 있음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646281"/>
            <a:ext cx="11091672" cy="488640"/>
          </a:xfrm>
          <a:prstGeom prst="roundRect">
            <a:avLst>
              <a:gd name="adj" fmla="val 1871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692001"/>
            <a:ext cx="1581912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설계의 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97480" y="4692001"/>
            <a:ext cx="3840480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조작 방식(하이브리드)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4692001"/>
            <a:ext cx="4535424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거치 조건(고정)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180640"/>
            <a:ext cx="11091672" cy="488640"/>
          </a:xfrm>
          <a:prstGeom prst="roundRect">
            <a:avLst>
              <a:gd name="adj" fmla="val 18713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226360"/>
            <a:ext cx="1581912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휴대성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97480" y="5226360"/>
            <a:ext cx="3840480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들고 다니며 어디서나 사용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0296" y="5226360"/>
            <a:ext cx="4535424" cy="3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거치 지점에 고정 — 휴대성 대신 접근성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1.9407471907644937e+46" dist="4.158743980209629e+45" dir="3.2651735040000005e+54">
              <a:srgbClr val="000000">
                <a:alpha val="1.2e+54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이동식·하이브리드 조작에서, 잔존 움직임에 맞춰 ‘고정된 위치’를 전제로 한 설계로 전환했습니다.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문제정의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사용자 범위를 확장했습니다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책상 환경의 한 손 사용자에 더해, 침대에서 장시간 컴퓨터를 사용하는 사용자를 포함했습니다.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대상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추가된 대상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509260" cy="1060404"/>
          </a:xfrm>
          <a:prstGeom prst="roundRect">
            <a:avLst>
              <a:gd name="adj" fmla="val 1379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464748932270907e+50" dist="5.281604854866228e+49" dir="1.9591041024000004e+59">
              <a:srgbClr val="000000">
                <a:alpha val="1.2e+5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2039112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질환·상태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49808" y="2258568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뇌졸중 후 편마비 · 상지 절단 · 뇌성마비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551176"/>
            <a:ext cx="5106924" cy="32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한쪽 상지만 자유롭게 사용할 수 있는 사용자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62940"/>
            <a:ext cx="5509260" cy="1354961"/>
          </a:xfrm>
          <a:prstGeom prst="roundRect">
            <a:avLst>
              <a:gd name="adj" fmla="val 1079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3.1302311439840524e+54" dist="6.70763816568011e+53" dir="1.1754624614400003e+64">
              <a:srgbClr val="000000">
                <a:alpha val="1.2000000000000001e+6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181812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환경과 병목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3456132"/>
            <a:ext cx="5106924" cy="8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책상·노트북 환경에서 표준 키보드와 마우스를 사용.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손이 두 장치 사이를 끊임없이 왕복해야 하며, 그 결과 문자 입력과 커서 제어를 동시에 수행할 수 없습니다.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31052" y="1929384"/>
            <a:ext cx="5509260" cy="1060404"/>
          </a:xfrm>
          <a:prstGeom prst="roundRect">
            <a:avLst>
              <a:gd name="adj" fmla="val 13797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3.9753935528597466e+58" dist="8.518700470413739e+57" dir="7.052774768640002e+68">
              <a:srgbClr val="000000">
                <a:alpha val="1.2e+6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32220" y="2039112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질환·상태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32220" y="2258568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신경근육질환 · 척수손상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32220" y="2551176"/>
            <a:ext cx="5106924" cy="32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체간과 어깨·팔의 움직임이 제한된 사용자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31052" y="3062940"/>
            <a:ext cx="5509260" cy="1354961"/>
          </a:xfrm>
          <a:prstGeom prst="roundRect">
            <a:avLst>
              <a:gd name="adj" fmla="val 1079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5.048749812131878e+62" dist="1.081874959742545e+62" dir="4.2316648611840007e+73">
              <a:srgbClr val="000000">
                <a:alpha val="1.2e+7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32220" y="3181812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환경과 병목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32220" y="3456132"/>
            <a:ext cx="5106924" cy="8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전동침대에서 장시간 반누운 자세로 컴퓨터를 사용.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손가락의 미세 움직임이 남아 있어도 팔을 들어 키보드 위에 유지하기 어렵고, 침대 위에는 장치를 둘 평면이 부족하며 자세가 바뀔 때마다 위치를 다시 맞춰야 합니다.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491053"/>
            <a:ext cx="5509260" cy="1178227"/>
          </a:xfrm>
          <a:prstGeom prst="roundRect">
            <a:avLst>
              <a:gd name="adj" fmla="val 1241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6.411912261407485e+66" dist="1.373981198873032e+66" dir="2.5389989167104004e+78">
              <a:srgbClr val="000000">
                <a:alpha val="1.2000000000000001e+79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9808" y="4609925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대안의 한계 — 상용 한 손 키보드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4884245"/>
            <a:ext cx="5106924" cy="675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포인팅 기능이 없어 마우스를 따로 두어야 하므로 왕복 문제가 그대로 남습니다.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가격이 높고 국내 유통과 사후 지원도 제한적입니다.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31052" y="4491053"/>
            <a:ext cx="5509260" cy="1178227"/>
          </a:xfrm>
          <a:prstGeom prst="roundRect">
            <a:avLst>
              <a:gd name="adj" fmla="val 1241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8.143128571987506e+70" dist="1.7449561225687507e+70" dir="1.5233993500262402e+83">
              <a:srgbClr val="000000">
                <a:alpha val="1.2000000000000002e+8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32220" y="4609925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대안의 한계 — 소프트웨어 방식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32220" y="4884245"/>
            <a:ext cx="5106924" cy="675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화상 키보드나 마우스키 기능은 별도 설치와 설정이 필요합니다.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 권한이 없는 회사·학교·공공기관 PC에서는 사용할 수 없습니다.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1.0341773286424134e+75" dist="2.2160942756623134e+74" dir="9.14039610015744e+87">
              <a:srgbClr val="000000">
                <a:alpha val="1.2000000000000002e+89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손가락의 신뢰할 수 있는 움직임이 없는 사용자는 본 시제품의 1차 대상이 아님을 신청서에 명시했습니다.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문제정의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5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입력이 어려운 게 아니라, 입력면에 도달하는 게 어렵습니다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장면 모두 손가락은 움직입니다. 무너지는 것은 팔을 들어 장치를 붙잡아 두는 쪽입니다.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연출 사진 · Pexels License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3648456" cy="4032504"/>
          </a:xfrm>
          <a:prstGeom prst="roundRect">
            <a:avLst>
              <a:gd name="adj" fmla="val 401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pic>
        <p:nvPicPr>
          <p:cNvPr id="11" name="Image 0" descr="assets/photos/user_lapdes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57438"/>
            <a:ext cx="3429000" cy="228028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5394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장치를 올려 둘 평면이 없다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70248" y="1600200"/>
            <a:ext cx="3648456" cy="4032504"/>
          </a:xfrm>
          <a:prstGeom prst="roundRect">
            <a:avLst>
              <a:gd name="adj" fmla="val 401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pic>
        <p:nvPicPr>
          <p:cNvPr id="14" name="Image 1" descr="assets/photos/user_b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354988"/>
            <a:ext cx="3429000" cy="2285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9976" y="5394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침대에서는 자세가 바뀔 때마다 위치가 흐트러진다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991856" y="1600200"/>
            <a:ext cx="3648456" cy="4032504"/>
          </a:xfrm>
          <a:prstGeom prst="roundRect">
            <a:avLst>
              <a:gd name="adj" fmla="val 401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pic>
        <p:nvPicPr>
          <p:cNvPr id="17" name="Image 2" descr="assets/photos/user_fatigu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748" y="1709928"/>
            <a:ext cx="2384672" cy="3575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1584" y="53949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팔을 지지하는 부담이 작업을 먼저 끊는다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8640" y="5705856"/>
            <a:ext cx="11091672" cy="603504"/>
          </a:xfrm>
          <a:prstGeom prst="roundRect">
            <a:avLst>
              <a:gd name="adj" fmla="val 24242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1.313405207375865e+79" dist="2.814439730091138e+78" dir="5.484237660094465e+92">
              <a:srgbClr val="000000">
                <a:alpha val="1.2000000000000001e+94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68096" y="5779008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저희는 “키를 적게 누르는 문제”가 아니라 “팔을 들어 입력면에 접근하고 키보드와 마우스 사이를 반복 이동해야 하는 문제”로 재정의했습니다.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문제정의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‘무엇이 병목인가’에 대한 관점이 바뀌었습니다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병목을 모드 전환 비용이 아니라, 입력면에 접근하고 두 장치 사이를 이동하는 과정으로 재정의했습니다.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11091672" cy="39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관점 — 병목은 커서 제어와 문자 입력 사이의 모드 전환 비용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064875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6680246133673485e+83" dist="3.574338457215745e+82" dir="3.2905425960566786e+97">
              <a:srgbClr val="000000">
                <a:alpha val="1.2e+9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문자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키보드에 손을 올린 상태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70682" y="2064875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71850" y="2064875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1183912589765324e+87" dist="4.539409840663996e+86" dir="1.9743255576340073e+102">
              <a:srgbClr val="000000">
                <a:alpha val="1.2e+10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8157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마우스로 이동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8157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 간 왕복 1회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93892" y="2064875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5060" y="2064875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6903568989001962e+91" dist="5.765050497643275e+90" dir="1.1845953345804043e+107">
              <a:srgbClr val="000000">
                <a:alpha val="1.2e+10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478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커서 제어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478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마우스를 잡은 상태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17102" y="2064875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18270" y="2064875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3.416753261603249e+95" dist="7.321614132006959e+94" dir="7.107572007482426e+111">
              <a:srgbClr val="000000">
                <a:alpha val="1.1999999999999999e+11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2799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키보드로 복귀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2799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 간 왕복 2회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33329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방향 — 손을 장치에서 떼지 않고 두 기능을 모두 수행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3643884"/>
            <a:ext cx="11091672" cy="39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 관점 — 병목은 팔을 들어 입력면에 접근하고 두 장치 사이를 반복 이동하는 것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108559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4.3392766422361264e+99" dist="9.298449947648839e+98" dir="4.2645432044894554e+116">
              <a:srgbClr val="000000">
                <a:alpha val="1.1999999999999998e+119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팔을 들어 올림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체간·어깨 근력 필요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70682" y="4108559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71850" y="4108559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5.510881335639881e+103" dist="1.1809031433514024e+103" dir="2.5587259226936733e+121">
              <a:srgbClr val="000000">
                <a:alpha val="1.1999999999999998e+124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8157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입력면에 접근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8157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위 평면 부족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93892" y="4108559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060" y="4108559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6.998819296262648e+107" dist="1.499746992056281e+107" dir="1.535235553616204e+126">
              <a:srgbClr val="000000">
                <a:alpha val="1.1999999999999998e+129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478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 위치 재조정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478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자세가 바뀔 때마다 반복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817102" y="4108559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18270" y="4108559"/>
            <a:ext cx="2622042" cy="1231537"/>
          </a:xfrm>
          <a:prstGeom prst="roundRect">
            <a:avLst>
              <a:gd name="adj" fmla="val 1188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8.888500506253563e+111" dist="1.904678679911477e+111" dir="9.211413321697224e+130">
              <a:srgbClr val="000000">
                <a:alpha val="1.1999999999999998e+134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2799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2799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여기까지 와야 시작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5376672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방향 — 장치를 손이 놓이는 위치·각도에 고정해 앞의 세 단계를 제거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" y="5687568"/>
            <a:ext cx="11091672" cy="621792"/>
          </a:xfrm>
          <a:prstGeom prst="roundRect">
            <a:avLst>
              <a:gd name="adj" fmla="val 235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1.1288395642942025e+116" dist="2.418941923487576e+115" dir="5.526847993018334e+135">
              <a:srgbClr val="000000">
                <a:alpha val="1.1999999999999998e+139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68096" y="576072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자체보다, 팔을 지지하고 입력 위치를 유지하는 과정이 더 큰 부담입니다. 작은 자세 변화에도 작업이 중단되거나 보조인의 도움이 필요해집니다.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· 페르소나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페르소나 ‘허교환’, 설정이 새로 바뀌었습니다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확장된 대상 사용자에 맞춰 연령·질환·자세·사용 환경을 모두 재설정했습니다.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1091672" cy="329184"/>
          </a:xfrm>
          <a:prstGeom prst="roundRect">
            <a:avLst>
              <a:gd name="adj" fmla="val 27778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45920"/>
            <a:ext cx="1381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96598" y="1645920"/>
            <a:ext cx="39463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45284" y="1645920"/>
            <a:ext cx="4630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975104"/>
            <a:ext cx="11091672" cy="487832"/>
          </a:xfrm>
          <a:prstGeom prst="roundRect">
            <a:avLst>
              <a:gd name="adj" fmla="val 1874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20824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나이 ·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96598" y="2020824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47세 · 물류회사 사무직, 뇌졸중 후 재택 복귀 준비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45284" y="2020824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35세 · 신경근육질환, 재택 온라인 검수·문서 업무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08656"/>
            <a:ext cx="11091672" cy="487832"/>
          </a:xfrm>
          <a:prstGeom prst="roundRect">
            <a:avLst>
              <a:gd name="adj" fmla="val 18744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554376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자세 · 환경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96598" y="2554376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책상에서 회사 지급 노트북 사용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45284" y="2554376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전동침대에서 상체 10~30도 반누운 자세, 하루 4~6시간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42209"/>
            <a:ext cx="11091672" cy="487832"/>
          </a:xfrm>
          <a:prstGeom prst="roundRect">
            <a:avLst>
              <a:gd name="adj" fmla="val 1874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087929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어려움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96598" y="3087929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좌측 편마비로 키보드·마우스 왕복 타이핑이 어려움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45284" y="3087929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들기 어려움, 장치 밀림·이탈, 화면을 보며 키 위치 확인 어려움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75761"/>
            <a:ext cx="11091672" cy="487832"/>
          </a:xfrm>
          <a:prstGeom prst="roundRect">
            <a:avLst>
              <a:gd name="adj" fmla="val 18744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621481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 조건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96598" y="3621481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손으로 문자 입력과 커서 제어를 함께 수행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45284" y="3621481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각도가 바뀌어도 장치 방향 조정, 손가락별 키맵·활성 힘 변경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109314"/>
            <a:ext cx="11091672" cy="487832"/>
          </a:xfrm>
          <a:prstGeom prst="roundRect">
            <a:avLst>
              <a:gd name="adj" fmla="val 1874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155034"/>
            <a:ext cx="138103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96598" y="4155034"/>
            <a:ext cx="3946350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분당 100타 이상, 재택 근무자로 정식 복귀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45284" y="4155034"/>
            <a:ext cx="4630436" cy="3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보호자의 재배치 없이 90분 이상 연속 작업, 분당 100타 이상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670298"/>
            <a:ext cx="2718054" cy="998982"/>
          </a:xfrm>
          <a:prstGeom prst="roundRect">
            <a:avLst>
              <a:gd name="adj" fmla="val 1647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433626246653637e+120" dist="3.0720562428292216e+119" dir="3.3161087958110005e+140">
              <a:srgbClr val="000000">
                <a:alpha val="1.1999999999999999e+144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8497" y="4810155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35세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8497" y="5194203"/>
            <a:ext cx="2438339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신경근육질환 재택 근무자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39846" y="4670298"/>
            <a:ext cx="2718054" cy="998982"/>
          </a:xfrm>
          <a:prstGeom prst="roundRect">
            <a:avLst>
              <a:gd name="adj" fmla="val 1647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8207053332501191e+124" dist="3.9015114283931116e+123" dir="1.9896652774866004e+145">
              <a:srgbClr val="000000">
                <a:alpha val="1.1999999999999998e+149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79703" y="4810155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10~30°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479703" y="5194203"/>
            <a:ext cx="2438339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상체 거상 각도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31052" y="4670298"/>
            <a:ext cx="2718054" cy="998982"/>
          </a:xfrm>
          <a:prstGeom prst="roundRect">
            <a:avLst>
              <a:gd name="adj" fmla="val 1647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312295773227651e+128" dist="4.954919514059251e+127" dir="1.1937991664919603e+150">
              <a:srgbClr val="000000">
                <a:alpha val="1.1999999999999998e+154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70909" y="4810155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4~6시간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70909" y="5194203"/>
            <a:ext cx="2438339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컴퓨터 사용 시간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922258" y="4670298"/>
            <a:ext cx="2718054" cy="998982"/>
          </a:xfrm>
          <a:prstGeom prst="roundRect">
            <a:avLst>
              <a:gd name="adj" fmla="val 1647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936615631999117e+132" dist="6.2927477828552495e+131" dir="7.162794998951762e+154">
              <a:srgbClr val="000000">
                <a:alpha val="1.1999999999999998e+159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062115" y="4810155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90분+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062115" y="5194203"/>
            <a:ext cx="2438339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보호자 도움 없는 연속 작업 목표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3.729501852638879e+136" dist="7.991789684226167e+135" dir="4.297676999371057e+159">
              <a:srgbClr val="000000">
                <a:alpha val="1.1999999999999998e+164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변경은 보호자가 아니라 본인이 가능한 범위에서 수행할 수 있어야 한다는 조건을 새로 추가했습니다.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손이 놓이는 자리에 고정되는, 한 손 통합 입력장치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손은 장치를 떠나지 않습니다. 엄지가 커서와 조합키를, 네 손가락이 문자를 맡습니다.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예상도 · 신청서 수정본(2026.08.09)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4917356" cy="4069080"/>
          </a:xfrm>
          <a:prstGeom prst="roundRect">
            <a:avLst>
              <a:gd name="adj" fmla="val 359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pic>
        <p:nvPicPr>
          <p:cNvPr id="11" name="Image 0" descr="asset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28" y="1709928"/>
            <a:ext cx="3335579" cy="384962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539148" y="1600200"/>
            <a:ext cx="6101164" cy="962406"/>
          </a:xfrm>
          <a:prstGeom prst="roundRect">
            <a:avLst>
              <a:gd name="adj" fmla="val 1520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4.736467352851376e+140" dist="1.0149572898967231e+140" dir="2.5786061996226343e+164">
              <a:srgbClr val="000000">
                <a:alpha val="1.1999999999999998e+169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40316" y="1719072"/>
            <a:ext cx="569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고정형 본체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40316" y="1993392"/>
            <a:ext cx="5698828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사이드레일·침대 테이블·관절형 암에 고정합니다. 손을 강하게 쥐지 않아도 손등 밴드와 측면 가이드가 위치를 유지합니다.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39148" y="2635758"/>
            <a:ext cx="6101164" cy="962406"/>
          </a:xfrm>
          <a:prstGeom prst="roundRect">
            <a:avLst>
              <a:gd name="adj" fmla="val 1520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6.0153135381212476e+144" dist="1.2889957581688384e+144" dir="1.5471637197735807e+169">
              <a:srgbClr val="000000">
                <a:alpha val="1.1999999999999997e+174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40316" y="2754630"/>
            <a:ext cx="569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 — 트랙볼과 조합키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40316" y="3028950"/>
            <a:ext cx="5698828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본체를 옮기지 않고 엄지만으로 커서를 360도 제어합니다. 아래로 내려 누르면 SPACE·SHIFT·CTRL·ALT에 닿습니다.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39148" y="3671316"/>
            <a:ext cx="6101164" cy="962406"/>
          </a:xfrm>
          <a:prstGeom prst="roundRect">
            <a:avLst>
              <a:gd name="adj" fmla="val 1520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7.639448193413984e+148" dist="1.6370246128744248e+148" dir="9.282982318641485e+173">
              <a:srgbClr val="000000">
                <a:alpha val="1.1999999999999996e+179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740316" y="3790188"/>
            <a:ext cx="569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— 토글 스위치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40316" y="4064508"/>
            <a:ext cx="5698828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 끝이 닿는 3차원 곡면에 토글을 배치했습니다. 위로 밀기 / 누르기 / 아래로 밀기 3동작을 각각 다른 키로 인식합니다.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39148" y="4706874"/>
            <a:ext cx="6101164" cy="962406"/>
          </a:xfrm>
          <a:prstGeom prst="roundRect">
            <a:avLst>
              <a:gd name="adj" fmla="val 1520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9.70209920563576e+152" dist="2.0790212583505195e+152" dir="5.569789391184891e+178">
              <a:srgbClr val="000000">
                <a:alpha val="1.1999999999999996e+184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40316" y="4825746"/>
            <a:ext cx="569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설치 불필요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40316" y="5100066"/>
            <a:ext cx="5698828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표준 HID 복합 장치로 동작합니다. 설치 권한이 없는 회사·학교·공공기관 PC에서도 연결 즉시 사용할 수 있습니다.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1.2321665991157415e+157" dist="2.64035699810516e+156" dir="3.3418736347109347e+183">
              <a:srgbClr val="000000">
                <a:alpha val="1.1999999999999995e+189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팔을 들지 않고, 손을 옮기지 않고, 소프트웨어를 깔지 않고 — 세 가지를 동시에 없애는 것이 이 구조의 목적입니다.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구조가 ‘고정형’으로 바뀌고, 지지부가 새로 생겼습니다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밀어서 움직이는 구조를 버리고, 고정된 본체를 좌우로 눕혀 키 뱅크를 전환하는 구조를 추가했습니다.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 디자인 레퍼런스 : Azeron Cyborg II (azeron.com)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본체 — 이동식에서 고정형으로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지지부 — 신규 추가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929384"/>
            <a:ext cx="5509260" cy="1035442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039112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9808" y="2258568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마우스처럼 미는 방식 → 거치 고정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2551176"/>
            <a:ext cx="5106924" cy="30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사이드레일, 침대 테이블, 별도 관절형 암에 고정합니다.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37978"/>
            <a:ext cx="5509260" cy="1339983"/>
          </a:xfrm>
          <a:prstGeom prst="roundRect">
            <a:avLst>
              <a:gd name="adj" fmla="val 1091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5648515808769916e+161" dist="3.353253387593553e+160" dir="2.0051241808265608e+188">
              <a:srgbClr val="000000">
                <a:alpha val="1.1999999999999995e+19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3156850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미끄럼 · 이탈 방지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3431170"/>
            <a:ext cx="5106924" cy="83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강하게 쥐지 않아도 위치가 유지되도록 손등 밴드 또는 측면 가이드를 둡니다.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버티컬 구조로 손목의 비틀림(회내)을 막아 장시간 사용 시 피로와 관절 부담을 줄입니다.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31052" y="1929384"/>
            <a:ext cx="5509260" cy="1035442"/>
          </a:xfrm>
          <a:prstGeom prst="roundRect">
            <a:avLst>
              <a:gd name="adj" fmla="val 1413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1.9873615077137795e+165" dist="4.2586318022438123e+164" dir="1.2030745084959364e+193">
              <a:srgbClr val="000000">
                <a:alpha val="1.1999999999999994e+19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32220" y="2039112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신규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32220" y="2258568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본체를 좌우로 눕혀 BANK 전환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32220" y="2551176"/>
            <a:ext cx="5106924" cy="30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전투기 조종간처럼 본체 전체를 기울여 키보드 뱅크(BANK A / B)를 선택합니다.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31052" y="3037978"/>
            <a:ext cx="5509260" cy="1339983"/>
          </a:xfrm>
          <a:prstGeom prst="roundRect">
            <a:avLst>
              <a:gd name="adj" fmla="val 1091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5239491147965e+169" dist="5.408462388849642e+168" dir="7.218447050975619e+197">
              <a:srgbClr val="000000">
                <a:alpha val="1.1999999999999994e+20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32220" y="3156850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스위치 방식 변경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32220" y="3431170"/>
            <a:ext cx="5106924" cy="83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입력을 기존 ‘다방향 스위치’에서 ‘토글 스위치’ 방식으로 변경했습니다.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 관절의 미세한 움직임 방향에 따라 서로 다른 키가 입력됩니다.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451113"/>
            <a:ext cx="5509260" cy="1218167"/>
          </a:xfrm>
          <a:prstGeom prst="roundRect">
            <a:avLst>
              <a:gd name="adj" fmla="val 1201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3.205415375791555e+173" dist="6.868747233839046e+172" dir="4.3310682305853715e+202">
              <a:srgbClr val="000000">
                <a:alpha val="1.1999999999999994e+209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" y="4569985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고정이 전제가 되는가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" y="4844305"/>
            <a:ext cx="5106924" cy="71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침대에서는 중력이 기기를 눌러 고정해 주지 않고, 자세를 바꿀 때마다 위치가 흐트러집니다.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자중과 논슬립만으로는 유지되지 않으므로 거치 고정을 설계의 전제로 둡니다.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1052" y="4451113"/>
            <a:ext cx="5509260" cy="1218167"/>
          </a:xfrm>
          <a:prstGeom prst="roundRect">
            <a:avLst>
              <a:gd name="adj" fmla="val 1201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4.070877527255275e+177" dist="8.723308986975589e+176" dir="2.598640938351223e+207">
              <a:srgbClr val="000000">
                <a:alpha val="1.1999999999999993e+214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32220" y="4569985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참고한 구조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32220" y="4844305"/>
            <a:ext cx="5106924" cy="71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얹은 채 손가락마다 여러 키를 배치하는 게이밍 키패드 구조를 지지부 설계의 출발점으로 참고했습니다.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다만 목표는 게임 조작이 아니라 문자 입력과 커서 제어의 통합입니다.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5.1700144596142e+181" dist="1.1078602413458997e+181" dir="1.5591845630107338e+212">
              <a:srgbClr val="000000">
                <a:alpha val="1.1999999999999994e+21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고정형으로 바꾸면서 잃은 것은 휴대성이고, 얻은 것은 팔을 들지 않아도 되는 접근성입니다.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 전환 방식, 이렇게 구현했습니다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토글 4개만으로 26키를 확보하기 위한 전환 구조입니다.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78118" y="1600200"/>
            <a:ext cx="9144" cy="47091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6929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전환 메커니즘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14694" y="1600200"/>
            <a:ext cx="5325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예산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692902" cy="1411224"/>
          </a:xfrm>
          <a:prstGeom prst="roundRect">
            <a:avLst>
              <a:gd name="adj" fmla="val 1036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6.565918363710034e+185" dist="1.4069825065092926e+185" dir="9.355107378064403e+216">
              <a:srgbClr val="000000">
                <a:alpha val="1.1999999999999994e+22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2020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2075688"/>
            <a:ext cx="4833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좌우 기울임으로 선택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386584"/>
            <a:ext cx="529056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왼쪽으로 4~5° 기울이면 BANK A, 오른쪽으로 4~5° 기울이면 BANK B를 선택합니다.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전체를 눕히는 동작이므로 손가락을 따로 쓰지 않습니다.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413760"/>
            <a:ext cx="5692902" cy="1411224"/>
          </a:xfrm>
          <a:prstGeom prst="roundRect">
            <a:avLst>
              <a:gd name="adj" fmla="val 1036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8.338716321911743e+189" dist="1.7868677832668018e+189" dir="5.613064426838642e+221">
              <a:srgbClr val="000000">
                <a:alpha val="1.1999999999999994e+22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5052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3560064"/>
            <a:ext cx="4833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스프링 복귀 · 상태 유지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3870960"/>
            <a:ext cx="529056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놓으면 스프링으로 중앙에 복귀하되, 선택된 BANK는 그대로 유지됩니다.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어느 뱅크인지는 LED 색상과 짧은 진동으로 표시합니다.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898136"/>
            <a:ext cx="5692902" cy="1411224"/>
          </a:xfrm>
          <a:prstGeom prst="roundRect">
            <a:avLst>
              <a:gd name="adj" fmla="val 1036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0590169728827912e+194" dist="2.2693220847488382e+193" dir="3.367838656103185e+226">
              <a:srgbClr val="000000">
                <a:alpha val="1.1999999999999994e+23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49895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07008" y="5044440"/>
            <a:ext cx="48333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손가락당 3동작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5355336"/>
            <a:ext cx="529056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 하나마다 위로 밀기 · 누르기 · 아래로 밀기 세 동작을 각각 다른 입력으로 인식합니다.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손가락을 옮기지 않고 관절 방향만 바꾸므로 팔 이동이 필요 없습니다.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14694" y="1929384"/>
            <a:ext cx="5325618" cy="723282"/>
          </a:xfrm>
          <a:prstGeom prst="roundRect">
            <a:avLst>
              <a:gd name="adj" fmla="val 20228"/>
            </a:avLst>
          </a:prstGeom>
          <a:solidFill>
            <a:srgbClr val="F5F5F7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5862" y="2020824"/>
            <a:ext cx="4923282" cy="361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× 3 × 2 + 2 = 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5862" y="2382465"/>
            <a:ext cx="4923282" cy="178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4개 × 3동작 × 2 BANK = 24키, 여기에 엄지 보조키를 더해 총 26키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14694" y="2725818"/>
            <a:ext cx="1726438" cy="614790"/>
          </a:xfrm>
          <a:prstGeom prst="roundRect">
            <a:avLst>
              <a:gd name="adj" fmla="val 2677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344951555561145e+198" dist="2.8820390476310245e+197" dir="2.020703193661911e+231">
              <a:srgbClr val="000000">
                <a:alpha val="1.1999999999999992e+239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765" y="2811889"/>
            <a:ext cx="1554297" cy="27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765" y="3089945"/>
            <a:ext cx="1554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입력키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114284" y="2725818"/>
            <a:ext cx="1726438" cy="614790"/>
          </a:xfrm>
          <a:prstGeom prst="roundRect">
            <a:avLst>
              <a:gd name="adj" fmla="val 2677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708088475562654e+202" dist="3.6601895904914013e+201" dir="1.2124219161971466e+236">
              <a:srgbClr val="000000">
                <a:alpha val="1.1999999999999992e+244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00355" y="2811889"/>
            <a:ext cx="1554297" cy="27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00355" y="3089945"/>
            <a:ext cx="1554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BANK당 키 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913874" y="2725818"/>
            <a:ext cx="1726438" cy="614790"/>
          </a:xfrm>
          <a:prstGeom prst="roundRect">
            <a:avLst>
              <a:gd name="adj" fmla="val 2677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1692723639645704e+206" dist="4.648440779924079e+205" dir="7.27453149718288e+240">
              <a:srgbClr val="000000">
                <a:alpha val="1.1999999999999991e+24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999945" y="2811889"/>
            <a:ext cx="1554297" cy="27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999945" y="3089945"/>
            <a:ext cx="1554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키당 동작 수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314694" y="3413760"/>
            <a:ext cx="5325618" cy="439928"/>
          </a:xfrm>
          <a:prstGeom prst="roundRect">
            <a:avLst>
              <a:gd name="adj" fmla="val 20785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7574" y="3468624"/>
            <a:ext cx="14173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BANK당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2910" y="3468624"/>
            <a:ext cx="34145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12키 + 엄지 보조키 1키 = 13키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14694" y="3899408"/>
            <a:ext cx="5325618" cy="439928"/>
          </a:xfrm>
          <a:prstGeom prst="roundRect">
            <a:avLst>
              <a:gd name="adj" fmla="val 2078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7574" y="3954272"/>
            <a:ext cx="14173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입력키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2910" y="3954272"/>
            <a:ext cx="34145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 A · B 합계 26키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14694" y="4385056"/>
            <a:ext cx="5325618" cy="439928"/>
          </a:xfrm>
          <a:prstGeom prst="roundRect">
            <a:avLst>
              <a:gd name="adj" fmla="val 20785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7574" y="4439920"/>
            <a:ext cx="14173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2910" y="4439920"/>
            <a:ext cx="341452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트랙볼과 보조키를 담당 (문자 입력에서 제외)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14694" y="4898136"/>
            <a:ext cx="5325618" cy="474800"/>
          </a:xfrm>
          <a:prstGeom prst="roundRect">
            <a:avLst>
              <a:gd name="adj" fmla="val 30814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2.7549759022350045e+210" dist="5.9035197905035806e+209" dir="4.364718898309728e+245">
              <a:srgbClr val="000000">
                <a:alpha val="1.1999999999999991e+254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534150" y="4971288"/>
            <a:ext cx="4886706" cy="32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 키로 영문 → 한글 → 숫자·기호 순서로 입력 모드를 전환합니다. (신규 추가)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14694" y="5446088"/>
            <a:ext cx="5325618" cy="863272"/>
          </a:xfrm>
          <a:prstGeom prst="roundRect">
            <a:avLst>
              <a:gd name="adj" fmla="val 1694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3.4988193958384558e+214" dist="7.497470133939547e+213" dir="2.6188313389858368e+250">
              <a:srgbClr val="000000">
                <a:alpha val="1.1999999999999991e+259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515862" y="5564960"/>
            <a:ext cx="49232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BANK 전환이 필요한가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15862" y="5839280"/>
            <a:ext cx="4923282" cy="36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토글만으로는 12키에 그칩니다. 뱅크 전환으로 물리 키 수를 두 배로 늘려, 손가락을 옮기지 않고도 26키를 확보합니다.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가지 동작이 26키를 만듭니다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기울임으로 뱅크를, 손가락 3동작으로 키를, 엄지 이동으로 조합키를 각각 나눠 맡습니다.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예상도 · 신청서 수정본(2026.08.09)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본체 좌우 기울임 — BANK A / B 선택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929384"/>
            <a:ext cx="11091672" cy="1988820"/>
          </a:xfrm>
          <a:prstGeom prst="roundRect">
            <a:avLst>
              <a:gd name="adj" fmla="val 735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pic>
        <p:nvPicPr>
          <p:cNvPr id="12" name="Image 0" descr="assets/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3262" y="2039112"/>
            <a:ext cx="2682427" cy="15316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" y="3680460"/>
            <a:ext cx="10872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베이스는 고정된 채 본체만 4~5° 눕는다 · 손을 놓으면 스프링 중앙 복귀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3991356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토글 3동작 — 키 하나가 세 개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320540"/>
            <a:ext cx="5509260" cy="1988820"/>
          </a:xfrm>
          <a:prstGeom prst="roundRect">
            <a:avLst>
              <a:gd name="adj" fmla="val 735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pic>
        <p:nvPicPr>
          <p:cNvPr id="16" name="Image 1" descr="assets/swi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23" y="4430268"/>
            <a:ext cx="3146694" cy="15316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8368" y="6071616"/>
            <a:ext cx="5289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위로 밀기 / 누르기 / 아래로 밀기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131052" y="3991356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엄지 도달 범위 — 조합키 배치 근거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131052" y="4320540"/>
            <a:ext cx="5509260" cy="1988820"/>
          </a:xfrm>
          <a:prstGeom prst="roundRect">
            <a:avLst>
              <a:gd name="adj" fmla="val 7356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pic>
        <p:nvPicPr>
          <p:cNvPr id="20" name="Image 2" descr="assets/thum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448" y="4430268"/>
            <a:ext cx="3058469" cy="15316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40780" y="6071616"/>
            <a:ext cx="52898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CMC 관절을 축으로 한 편안한 영역에 SPACE·SHIFT·CTRL·ALT를 배치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해커톤 기간 중 여기까지 실물로 만듭니다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 네 자리는 제작이 끝나는 대로 실물 사진으로 교체합니다. 현재는 예상도만 확보된 상태입니다.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718054" cy="4069080"/>
          </a:xfrm>
          <a:prstGeom prst="roundRect">
            <a:avLst>
              <a:gd name="adj" fmla="val 5383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5526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577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64916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6811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5526" y="564916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577" y="546811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360420"/>
            <a:ext cx="2388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3D 프린팅 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3653028"/>
            <a:ext cx="23888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버티컬 본체 · 손가락 곡면 배치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직후 파트 사진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3232" y="5431536"/>
            <a:ext cx="23888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4:3 권장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339846" y="1600200"/>
            <a:ext cx="2718054" cy="4069080"/>
          </a:xfrm>
          <a:prstGeom prst="roundRect">
            <a:avLst>
              <a:gd name="adj" fmla="val 5383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9846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9846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6732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7783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9846" y="564916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9846" y="546811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6732" y="564916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7783" y="546811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4438" y="3360420"/>
            <a:ext cx="2388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스위치·트랙볼 실장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04438" y="3653028"/>
            <a:ext cx="23888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4개 + 트랙볼 + 엄지 키패드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내부 배선이 보이는 각도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04438" y="5431536"/>
            <a:ext cx="23888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4:3 권장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31052" y="1600200"/>
            <a:ext cx="2718054" cy="4069080"/>
          </a:xfrm>
          <a:prstGeom prst="roundRect">
            <a:avLst>
              <a:gd name="adj" fmla="val 5383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31052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1052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47938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989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1052" y="564916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31052" y="546811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47938" y="564916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28989" y="546811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5644" y="3360420"/>
            <a:ext cx="2388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지지부 · 거치 상태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95644" y="3653028"/>
            <a:ext cx="23888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사이드레일 / 관절형 암에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고정한 실제 장면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95644" y="5431536"/>
            <a:ext cx="23888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4:3 권장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922258" y="1600200"/>
            <a:ext cx="2718054" cy="4069080"/>
          </a:xfrm>
          <a:prstGeom prst="roundRect">
            <a:avLst>
              <a:gd name="adj" fmla="val 5383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22258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22258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39144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20195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22258" y="564916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22258" y="546811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439144" y="564916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620195" y="546811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86850" y="3360420"/>
            <a:ext cx="2388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착용·조작 장면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086850" y="3653028"/>
            <a:ext cx="23888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손등 밴드 착용 후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반누운 자세에서 입력하는 장면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086850" y="5431536"/>
            <a:ext cx="23888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4:3 권장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4.443500632714839e+218" dist="9.521787070103225e+217" dir="1.571298803391502e+255">
              <a:srgbClr val="000000">
                <a:alpha val="1.199999999999999e+264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시제품 완주 경험(ESP32 기반 PCB 설계, 듀얼 버튼·마이크·스피커 통합 시스템)이 있어, 개념 검증이 아니라 동작하는 실물까지 목표로 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· 부품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제어부(MCU)를 변경했습니다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 방식과 전원 구조는 그대로 두고, 제어부 모듈만 교체했습니다.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509260" cy="1741815"/>
          </a:xfrm>
          <a:prstGeom prst="roundRect">
            <a:avLst>
              <a:gd name="adj" fmla="val 840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5.6432458035478455e+222" dist="1.2092669579031096e+222" dir="9.427792820349012e+259">
              <a:srgbClr val="000000">
                <a:alpha val="1.1999999999999991e+26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1709928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49808" y="1929384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ESP32-S3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221992"/>
            <a:ext cx="5106924" cy="101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신청서 원본 제출 시점의 제어부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1052" y="1600200"/>
            <a:ext cx="5509260" cy="1741815"/>
          </a:xfrm>
          <a:prstGeom prst="roundRect">
            <a:avLst>
              <a:gd name="adj" fmla="val 84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7.166922170505763e+226" dist="1.5357690365369493e+226" dir="5.656675692209407e+264">
              <a:srgbClr val="000000">
                <a:alpha val="1.199999999999999e+2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2220" y="1709928"/>
            <a:ext cx="51069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32220" y="1929384"/>
            <a:ext cx="5106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F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Seeed XIAO nRF52840 Plus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2220" y="2221992"/>
            <a:ext cx="5106924" cy="101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USB-C 유선과 BLE 무선을 모두 지원하는 제어부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415167"/>
            <a:ext cx="11091672" cy="422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 없이 유지되는 부분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910440"/>
            <a:ext cx="11091672" cy="555800"/>
          </a:xfrm>
          <a:prstGeom prst="roundRect">
            <a:avLst>
              <a:gd name="adj" fmla="val 16452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65304"/>
            <a:ext cx="1005840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65376" y="3965304"/>
            <a:ext cx="9592056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USB-C 유선 + BLE 무선 동시 지원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511960"/>
            <a:ext cx="11091672" cy="555800"/>
          </a:xfrm>
          <a:prstGeom prst="roundRect">
            <a:avLst>
              <a:gd name="adj" fmla="val 1645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66824"/>
            <a:ext cx="1005840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65376" y="4566824"/>
            <a:ext cx="9592056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USB-C 단자가 배터리 충전을 겸함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5113480"/>
            <a:ext cx="11091672" cy="555800"/>
          </a:xfrm>
          <a:prstGeom prst="roundRect">
            <a:avLst>
              <a:gd name="adj" fmla="val 16452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168344"/>
            <a:ext cx="1005840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65376" y="5168344"/>
            <a:ext cx="9592056" cy="44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설치 없이 표준 HID(키보드·마우스 복합 장치)로 동작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9.101991156542319e+230" dist="1.950426676401926e+230" dir="3.3940054153256444e+269">
              <a:srgbClr val="000000">
                <a:alpha val="1.199999999999999e+279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제어부가 바뀌어도 “설치 권한이 없는 PC에서 연결 즉시 사용”이라는 핵심 전제는 그대로 유지됩니다.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· 부품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주요 부품 — 실물 확보 현황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 다섯 자리는 부품 입고 후 실물 사진으로 교체합니다. 사양은 신청서 수정본을 따릅니다.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159813" cy="2575560"/>
          </a:xfrm>
          <a:prstGeom prst="roundRect">
            <a:avLst>
              <a:gd name="adj" fmla="val 6774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07285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8336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07285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88336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613660"/>
            <a:ext cx="1830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제어부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2906268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Seeed XIAO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nRF52840 Plus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81605" y="1600200"/>
            <a:ext cx="2159813" cy="2575560"/>
          </a:xfrm>
          <a:prstGeom prst="roundRect">
            <a:avLst>
              <a:gd name="adj" fmla="val 6774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1605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1605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40250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21301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1605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1605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0250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21301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6197" y="2613660"/>
            <a:ext cx="1830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포인팅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46197" y="2906268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트랙볼 모듈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광학 센서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14570" y="1600200"/>
            <a:ext cx="2159813" cy="2575560"/>
          </a:xfrm>
          <a:prstGeom prst="roundRect">
            <a:avLst>
              <a:gd name="adj" fmla="val 6774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4570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14570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73214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54266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14570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14570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73214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54266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79162" y="2613660"/>
            <a:ext cx="1830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문자 입력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79162" y="2906268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스위치 ×4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(3동작 인식)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247534" y="1600200"/>
            <a:ext cx="2159813" cy="2575560"/>
          </a:xfrm>
          <a:prstGeom prst="roundRect">
            <a:avLst>
              <a:gd name="adj" fmla="val 6774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47534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47534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06179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87230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47534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47534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06179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87230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12126" y="2613660"/>
            <a:ext cx="1830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뱅크 전환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412126" y="2906268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지지부 힌지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복귀 스프링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480499" y="1600200"/>
            <a:ext cx="2159813" cy="2575560"/>
          </a:xfrm>
          <a:prstGeom prst="roundRect">
            <a:avLst>
              <a:gd name="adj" fmla="val 6774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80499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80499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439144" y="1600200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620195" y="1600200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80499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80499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439144" y="4155643"/>
            <a:ext cx="201168" cy="20117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620195" y="3974592"/>
            <a:ext cx="20117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45091" y="2613660"/>
            <a:ext cx="1830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전원·피드백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645091" y="2906268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리튬 배터리</a:t>
            </a:r>
            <a:endParaRPr lang="en-US" sz="8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LED · 진동 모터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48640" y="4248912"/>
            <a:ext cx="11091672" cy="375514"/>
          </a:xfrm>
          <a:prstGeom prst="roundRect">
            <a:avLst>
              <a:gd name="adj" fmla="val 24351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4303776"/>
            <a:ext cx="1005840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제어부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865376" y="4303776"/>
            <a:ext cx="9592056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Seeed XIAO nRF52840 Plus — USB-C 유선 + BLE 무선, USB-C가 배터리 충전 겸용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8640" y="4670146"/>
            <a:ext cx="11091672" cy="375514"/>
          </a:xfrm>
          <a:prstGeom prst="roundRect">
            <a:avLst>
              <a:gd name="adj" fmla="val 2435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4725010"/>
            <a:ext cx="1005840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865376" y="4725010"/>
            <a:ext cx="9592056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토글 스위치 4개 (위로 밀기 / 누르기 / 아래로 밀기) + 엄지 보조키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8640" y="5091379"/>
            <a:ext cx="11091672" cy="375514"/>
          </a:xfrm>
          <a:prstGeom prst="roundRect">
            <a:avLst>
              <a:gd name="adj" fmla="val 24351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5146243"/>
            <a:ext cx="1005840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포인팅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865376" y="5146243"/>
            <a:ext cx="9592056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 트랙볼 + 좌·우클릭 택트 스위치, 비선형 감도 곡선 적용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8640" y="5512613"/>
            <a:ext cx="11091672" cy="375514"/>
          </a:xfrm>
          <a:prstGeom prst="roundRect">
            <a:avLst>
              <a:gd name="adj" fmla="val 2435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" y="5567477"/>
            <a:ext cx="1005840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피드백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865376" y="5567477"/>
            <a:ext cx="9592056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 상태를 LED 색상과 짧은 진동으로 표시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48640" y="5933846"/>
            <a:ext cx="11091672" cy="375514"/>
          </a:xfrm>
          <a:prstGeom prst="roundRect">
            <a:avLst>
              <a:gd name="adj" fmla="val 24351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5988710"/>
            <a:ext cx="1005840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인식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865376" y="5988710"/>
            <a:ext cx="9592056" cy="26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표준 HID 키보드·마우스 복합 장치 — 드라이버 설치 불필요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400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심화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신청서 제출 이후 사전행사에서 구체화한 내용입니다. 아래 네 장은 수정본을 전제로 작성되었습니다.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설계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 하나에 세 역할을 몰아넣으면 드래그가 불가능합니다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예상도에서 엄지가 담당하던 트랙볼·클릭·모디파이어를 분리하고, 순차 입력으로 조합을 대체했습니다.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— 엄지는 한 번에 한 곳에만 있습니다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해법 — 자원을 분리하고 순차 입력으로 바꿉니다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1559528768808745e+235" dist="2.4770418790304458e+234" dir="2.0364032491953868e+274">
              <a:srgbClr val="000000">
                <a:alpha val="1.199999999999999e+28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2048256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드래그가 되지 않음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322576"/>
            <a:ext cx="51069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좌클릭을 누른 채 트랙볼을 굴려야 하는데, 같은 엄지가 둘을 동시에 할 수 없습니다.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4680601536387107e+239" dist="3.145843186368666e+238" dir="1.221841949517232e+279">
              <a:srgbClr val="000000">
                <a:alpha val="1.199999999999999e+28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319272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 단축키가 되지 않음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3593592"/>
            <a:ext cx="51069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Ctrl + 클릭, Shift + 클릭처럼 모디파이어와 클릭을 함께 써야 하는 조작이 성립하지 않습니다.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471416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8644363951211627e+243" dist="3.995220846688206e+242" dir="7.331051697103393e+283">
              <a:srgbClr val="000000">
                <a:alpha val="1.199999999999999e+29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4590288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요구사항과 정면 충돌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4864608"/>
            <a:ext cx="51069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“손을 떼지 않은 채 드래그와 조합 단축키를 모두 수행”한다는 페르소나 요구 조건을 만족할 수 없습니다.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31052" y="1929384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3678342218038767e+247" dist="5.0739304752940216e+246" dir="4.3986310182620354e+288">
              <a:srgbClr val="000000">
                <a:alpha val="1.199999999999999e+29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32220" y="2020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89420" y="2075688"/>
            <a:ext cx="4649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드래그 락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32220" y="2386584"/>
            <a:ext cx="51069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좌클릭 더블탭으로 버튼 눌림을 유지하고, 이동 후 한 번 더 탭해 해제합니다. 상용 트랙볼에 이미 있는 검증된 방식입니다.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31052" y="3200400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3.0071494616909234e+251" dist="6.443891703623408e+250" dir="2.6391786109572213e+293">
              <a:srgbClr val="000000">
                <a:alpha val="1.199999999999999e+304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32220" y="32918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89420" y="3346704"/>
            <a:ext cx="4649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원샷 모디파이어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32220" y="3657600"/>
            <a:ext cx="51069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Ctrl을 탭하면 다음 입력 하나에만 적용되고 자동 해제됩니다. 더블탭은 잠금, 세 번째 탭은 해제입니다.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31052" y="4471416"/>
            <a:ext cx="5509260" cy="1197864"/>
          </a:xfrm>
          <a:prstGeom prst="roundRect">
            <a:avLst>
              <a:gd name="adj" fmla="val 12214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3.819079816347473e+255" dist="8.183742463601727e+254" dir="1.5835071665743328e+298">
              <a:srgbClr val="000000">
                <a:alpha val="Infinity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32220" y="4562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89420" y="4617720"/>
            <a:ext cx="4649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 분리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32220" y="4928616"/>
            <a:ext cx="51069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엄지는 포인팅 전담, 네 손가락은 문자·기능 전담으로 나눕니다.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4.85023136676129e+259" dist="1.0393352928774194e+259" dir="9.501042999445996e+302">
              <a:srgbClr val="000000">
                <a:alpha val="Infinity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원샷 모디파이어는 Windows 고정키와 결과가 같지만 OS 설정을 건드리지 않습니다 — 설치 권한 제약을 그대로 만족합니다.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설계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누운 자세에서는 기기보다 거치가 먼저 무너집니다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중력 방향과 시선 조건이 달라지면서, 앉은 자세를 전제로 한 고정·피드백 전략이 성립하지 않습니다.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누운 자세가 바꾸는 조건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그에 맞춘 거치 설계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6.159793835786838e+263" dist="1.3199558219543225e+263" dir="5.700625799667598e+307">
              <a:srgbClr val="000000">
                <a:alpha val="Infinity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2048256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중력 방향이 90° 바뀐다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322576"/>
            <a:ext cx="51069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자중과 논슬립만으로 잡던 고정 전략이 무효가 됩니다.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882646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7.822938171449285e+267" dist="1.6763438938819895e+267" dir="Infinity">
              <a:srgbClr val="000000">
                <a:alpha val="Infinity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001518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손이 시야에서 사라진다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3275838"/>
            <a:ext cx="51069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화면이 정면·머리 위에 있어 손을 내려다볼 수 없습니다. 블라인드 조작이 전제가 됩니다.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835908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9.935131477740591e+271" dist="2.1289567452301266e+271" dir="Infinity">
              <a:srgbClr val="000000">
                <a:alpha val="Infinity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3954780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LED 표시가 보이지 않는다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4229100"/>
            <a:ext cx="51069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 옆의 LED는 시야 밖입니다. 상태 표시가 시각에 의존할 수 없습니다.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789170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261761697673055e+276" dist="2.7037750664422608e+275" dir="Infinity">
              <a:srgbClr val="000000">
                <a:alpha val="Infinity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4908042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케이블을 늘어뜨릴 수 없다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5182362"/>
            <a:ext cx="510692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얼굴과 목 위를 지나는 케이블은 체위 변경 때 걸리고 안전 문제도 됩니다.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31052" y="1929384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1.6024373560447799e+280" dist="3.433794334381671e+279" dir="Infinity">
              <a:srgbClr val="000000">
                <a:alpha val="Infinity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32220" y="2020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89420" y="2075688"/>
            <a:ext cx="4649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클램프 암 고정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32220" y="2386584"/>
            <a:ext cx="5106924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프레임에 클램프 암을 상시 고정하고, 기기를 손이 이미 놓인 위치로 가져옵니다.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1052" y="2882646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0350954421768704e+284" dist="4.360918804664722e+283" dir="Infinity">
              <a:srgbClr val="000000">
                <a:alpha val="Infinity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32220" y="297408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89420" y="3028950"/>
            <a:ext cx="4649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자석 원터치 탈착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32220" y="3339846"/>
            <a:ext cx="5106924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체위 변경 후 사용자가 혼자 사용 자세로 복귀할 수 있도록 합니다.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1052" y="3835908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2.5845712115646254e+288" dist="5.538366881924197e+287" dir="Infinity">
              <a:srgbClr val="000000">
                <a:alpha val="Infinity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32220" y="39273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89420" y="3982212"/>
            <a:ext cx="4649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햅틱 피드백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32220" y="4293108"/>
            <a:ext cx="5106924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LED 레이어 표시를 진동 또는 짧은 비프음 패턴으로 대체합니다.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31052" y="4789170"/>
            <a:ext cx="5509260" cy="880110"/>
          </a:xfrm>
          <a:prstGeom prst="roundRect">
            <a:avLst>
              <a:gd name="adj" fmla="val 1662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3.2824054386870743e+292" dist="7.033725940043731e+291" dir="Infinity">
              <a:srgbClr val="000000">
                <a:alpha val="Infinity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32220" y="488061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89420" y="4935474"/>
            <a:ext cx="46497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BLE 우선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32220" y="5246370"/>
            <a:ext cx="5106924" cy="31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무선을 기본 연결로 두고, USB-C는 충전과 설정용으로 사용합니다.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4.1686549071325846e+296" dist="8.932831943855538e+295" dir="Infinity">
              <a:srgbClr val="000000">
                <a:alpha val="Infinity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사용자군의 진짜 실패 지점은 성능이 아니라 ‘부탁의 횟수’입니다. 한 번 설치하면 체위가 바뀌어도 혼자 복귀할 수 있어야 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설계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없이 한글을 입력하는 경로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펌웨어가 자모를 확정해 두벌식 스캔코드로 방출하고, 음절 조합은 운영체제 IME가 담당합니다.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5.294191732058382e+300" dist="1.1344696568696533e+300" dir="Infinity">
              <a:srgbClr val="000000">
                <a:alpha val="Infinity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입력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× 3동작 × 2 BANK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07208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6.723623499714145e+304" dist="1.4407764642244596e+304" dir="Infinity">
              <a:srgbClr val="000000">
                <a:alpha val="Infinity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16936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펌웨어 상태머신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16936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입력열을 자모로 해석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64608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75504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자모 확정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75504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지연 버퍼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23176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24344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34072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두벌식 스캔코드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4072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표준 HID 키보드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81744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82912" y="1600200"/>
            <a:ext cx="2057400" cy="1672414"/>
          </a:xfrm>
          <a:prstGeom prst="roundRect">
            <a:avLst>
              <a:gd name="adj" fmla="val 8748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92640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OS IME가 음절 조합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0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설치·권한 불필요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30919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번째 단계부터는 완전한 표준 HID입니다. 장치는 IME를 흉내내지 않고, IME에게 두벌식으로 말을 겁니다.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3620086"/>
            <a:ext cx="5509260" cy="2049194"/>
          </a:xfrm>
          <a:prstGeom prst="roundRect">
            <a:avLst>
              <a:gd name="adj" fmla="val 714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" y="3738958"/>
            <a:ext cx="5106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지연 (Commit Delay)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" y="4013278"/>
            <a:ext cx="5106924" cy="154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모음이 확정될 때까지 스캔코드 방출을 보류합니다. 다음 자음이 입력되거나 유휴 시간이 지나면 한 번에 방출하므로, 백스페이스로 이미 보낸 키를 회수할 필요가 없습니다.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 중 백스페이스의 동작이 자모 단위인지 음절 단위인지는 운영체제마다 다릅니다. 회수를 아예 쓰지 않는 것이 이 차이를 피하는 방법입니다.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실사용에서는 다음 자음이 곧바로 입력되므로 체감 지연이 거의 없습니다.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1052" y="3620086"/>
            <a:ext cx="5509260" cy="652585"/>
          </a:xfrm>
          <a:prstGeom prst="roundRect">
            <a:avLst>
              <a:gd name="adj" fmla="val 14012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3932" y="3674950"/>
            <a:ext cx="1143000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한/영 전환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4948" y="3674950"/>
            <a:ext cx="3872484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OS 기본 경로(HID LANG1) 사용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31052" y="4318391"/>
            <a:ext cx="5509260" cy="652585"/>
          </a:xfrm>
          <a:prstGeom prst="roundRect">
            <a:avLst>
              <a:gd name="adj" fmla="val 140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3932" y="4373255"/>
            <a:ext cx="1143000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모드 전환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84948" y="4373255"/>
            <a:ext cx="3872484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 키로 영문 → 한글 → 숫자·기호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31052" y="5016695"/>
            <a:ext cx="5509260" cy="652585"/>
          </a:xfrm>
          <a:prstGeom prst="roundRect">
            <a:avLst>
              <a:gd name="adj" fmla="val 14012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3932" y="5071559"/>
            <a:ext cx="1143000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상태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84948" y="5071559"/>
            <a:ext cx="3872484" cy="54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OS별 IME 실측 미완료 — 최우선 검증 항목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“드라이버 없이 어떻게 한글이 입력되는가”는 심사에서 가장 먼저 나올 질문이며, 이 경로가 그 답입니다.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· 검증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‘분당 100타’를 어떻게 증명할 것인가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 타수를 입력당 소요 시간으로 환산하고, 단계별 측정 계획으로 근거를 만듭니다.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‘타’는 한국 타자 검정 기준의 자모 1타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5509260" cy="1354741"/>
          </a:xfrm>
          <a:prstGeom prst="roundRect">
            <a:avLst>
              <a:gd name="adj" fmla="val 10799"/>
            </a:avLst>
          </a:prstGeom>
          <a:solidFill>
            <a:srgbClr val="F5F5F7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691640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100타/분 = 초당 2.7입력 = 입력당 약 220ms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057400"/>
            <a:ext cx="5106924" cy="806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한글 1음절 ≈ 자모 2.7개, 자모 1개당 평균 입력 약 1.6회로 환산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31052" y="1600200"/>
            <a:ext cx="1146429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 · 표준 키보드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68921" y="1820013"/>
            <a:ext cx="3448431" cy="23774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8921" y="1820013"/>
            <a:ext cx="1253975" cy="237744"/>
          </a:xfrm>
          <a:prstGeom prst="roundRect">
            <a:avLst>
              <a:gd name="adj" fmla="val 50000"/>
            </a:avLst>
          </a:prstGeom>
          <a:solidFill>
            <a:srgbClr val="CCE0F5"/>
          </a:solidFill>
          <a:ln w="12700">
            <a:solidFill>
              <a:srgbClr val="CCE0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7080" y="1600200"/>
            <a:ext cx="713232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40타/분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1052" y="2277570"/>
            <a:ext cx="1146429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 목표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8921" y="2497384"/>
            <a:ext cx="3448431" cy="23774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8921" y="2497384"/>
            <a:ext cx="3134937" cy="23774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27080" y="2277570"/>
            <a:ext cx="713232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100타/분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28093"/>
            <a:ext cx="11091672" cy="329184"/>
          </a:xfrm>
          <a:prstGeom prst="roundRect">
            <a:avLst>
              <a:gd name="adj" fmla="val 27778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073813"/>
            <a:ext cx="2196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2238" y="3073813"/>
            <a:ext cx="5564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내용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79050" y="3073813"/>
            <a:ext cx="2196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402997"/>
            <a:ext cx="11091672" cy="518565"/>
          </a:xfrm>
          <a:prstGeom prst="roundRect">
            <a:avLst>
              <a:gd name="adj" fmla="val 176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448717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2238" y="3448717"/>
            <a:ext cx="5564476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손으로 표준 두벌식 키보드 사용 시 분당 40타 (페르소나 설정값)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79050" y="3448717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완료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967282"/>
            <a:ext cx="11091672" cy="518565"/>
          </a:xfrm>
          <a:prstGeom prst="roundRect">
            <a:avLst>
              <a:gd name="adj" fmla="val 17633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013002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 트레이너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2238" y="4013002"/>
            <a:ext cx="5564476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실기 없이 배열만으로 도달 가능한 타수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79050" y="4013002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하드웨어 완성 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531566"/>
            <a:ext cx="11091672" cy="518565"/>
          </a:xfrm>
          <a:prstGeom prst="roundRect">
            <a:avLst>
              <a:gd name="adj" fmla="val 176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577286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팀원 학습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12238" y="4577286"/>
            <a:ext cx="5564476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4인이 30분 학습 후 초기 습득 속도와 오타율 측정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79050" y="4577286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시제품 완성 직후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095851"/>
            <a:ext cx="11091672" cy="518565"/>
          </a:xfrm>
          <a:prstGeom prst="roundRect">
            <a:avLst>
              <a:gd name="adj" fmla="val 17633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141571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2238" y="5141571"/>
            <a:ext cx="5564476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문장 입력 + 웹 브라우징 (드래그·조합 단축키 포함)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79050" y="5141571"/>
            <a:ext cx="2196670" cy="42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687568"/>
            <a:ext cx="11091672" cy="621792"/>
          </a:xfrm>
          <a:prstGeom prst="roundRect">
            <a:avLst>
              <a:gd name="adj" fmla="val 2352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68096" y="5760720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발표에서는 ‘100타 달성’이 아니라 학습곡선의 초기 기울기를 근거로 제시합니다. 시연에는 드래그와 조합 단축키를 반드시 포함합니다.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· 리스크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원가와 미검증 항목을 함께 공개합니다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 수치는 실견적이 아닌 추정치입니다. 확정 전까지 추정임을 표시한 채로 사용합니다.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20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686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단가는 상용 부품 유용을 전제한 추정치 · 실견적 필요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538978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0200"/>
            <a:ext cx="4958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개략 원가 (1대 기준, 추정)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80126" y="1600200"/>
            <a:ext cx="60601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미검증 항목과 확신도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929384"/>
            <a:ext cx="914400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부품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54480" y="2140849"/>
            <a:ext cx="3129534" cy="23774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140849"/>
            <a:ext cx="2064847" cy="23774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3742" y="1929384"/>
            <a:ext cx="713232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96,000원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590059"/>
            <a:ext cx="914400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거치 부품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54480" y="2801524"/>
            <a:ext cx="3129534" cy="23774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801524"/>
            <a:ext cx="1064687" cy="237744"/>
          </a:xfrm>
          <a:prstGeom prst="roundRect">
            <a:avLst>
              <a:gd name="adj" fmla="val 50000"/>
            </a:avLst>
          </a:prstGeom>
          <a:solidFill>
            <a:srgbClr val="CCE0F5"/>
          </a:solidFill>
          <a:ln w="12700">
            <a:solidFill>
              <a:srgbClr val="CCE0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3742" y="2590059"/>
            <a:ext cx="713232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49,500원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250733"/>
            <a:ext cx="914400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54480" y="3462198"/>
            <a:ext cx="3129534" cy="23774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3462198"/>
            <a:ext cx="3129534" cy="23774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3742" y="3250733"/>
            <a:ext cx="713232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145,500원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984560"/>
            <a:ext cx="4958334" cy="819500"/>
          </a:xfrm>
          <a:prstGeom prst="roundRect">
            <a:avLst>
              <a:gd name="adj" fmla="val 11158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039424"/>
            <a:ext cx="96012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조달 리스크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19656" y="4039424"/>
            <a:ext cx="3504438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광센서 국내 유통 제한 — 리드타임 확인이 최우선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849780"/>
            <a:ext cx="4958334" cy="819500"/>
          </a:xfrm>
          <a:prstGeom prst="roundRect">
            <a:avLst>
              <a:gd name="adj" fmla="val 1115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904644"/>
            <a:ext cx="96012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대체안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19656" y="4904644"/>
            <a:ext cx="3504438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시판 엄지 트랙볼에서 센서·볼 조립체 하베스팅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80126" y="1929384"/>
            <a:ext cx="6060186" cy="329184"/>
          </a:xfrm>
          <a:prstGeom prst="roundRect">
            <a:avLst>
              <a:gd name="adj" fmla="val 27778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4718" y="1975104"/>
            <a:ext cx="19024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9524" y="1975104"/>
            <a:ext cx="675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확신도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26920" y="1975104"/>
            <a:ext cx="234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80126" y="2304288"/>
            <a:ext cx="6060186" cy="505227"/>
          </a:xfrm>
          <a:prstGeom prst="roundRect">
            <a:avLst>
              <a:gd name="adj" fmla="val 1809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4718" y="2350008"/>
            <a:ext cx="190247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두벌식 스캔코드 변환 방식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9524" y="2350008"/>
            <a:ext cx="67506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높음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26920" y="2350008"/>
            <a:ext cx="234880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HID 표준 동작에서 직접 도출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80126" y="2855235"/>
            <a:ext cx="6060186" cy="505227"/>
          </a:xfrm>
          <a:prstGeom prst="roundRect">
            <a:avLst>
              <a:gd name="adj" fmla="val 18099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44718" y="2900955"/>
            <a:ext cx="190247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지연의 OS별 실제 동작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9524" y="2900955"/>
            <a:ext cx="67506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26920" y="2900955"/>
            <a:ext cx="234880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미검증 — 최우선 검증 항목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80126" y="3406181"/>
            <a:ext cx="6060186" cy="505227"/>
          </a:xfrm>
          <a:prstGeom prst="roundRect">
            <a:avLst>
              <a:gd name="adj" fmla="val 1809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44718" y="3451901"/>
            <a:ext cx="190247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그립각 · 스위치 작동력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9524" y="3451901"/>
            <a:ext cx="67506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126920" y="3451901"/>
            <a:ext cx="2348800" cy="41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추정치, 수요자 멘토링 검증 필요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80126" y="3984560"/>
            <a:ext cx="6060186" cy="819500"/>
          </a:xfrm>
          <a:prstGeom prst="roundRect">
            <a:avLst>
              <a:gd name="adj" fmla="val 11158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3006" y="4039424"/>
            <a:ext cx="114300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BOM 단가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34022" y="4039424"/>
            <a:ext cx="442341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— 추정치이며 실측 견적이 아님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80126" y="4849780"/>
            <a:ext cx="6060186" cy="819500"/>
          </a:xfrm>
          <a:prstGeom prst="roundRect">
            <a:avLst>
              <a:gd name="adj" fmla="val 1115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3006" y="4904644"/>
            <a:ext cx="114300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분당 100타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34022" y="4904644"/>
            <a:ext cx="4423410" cy="70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— 계산상 가능하나 실측 없음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68096" y="5815584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추정치를 확정값처럼 제시하지 않는 것이 이 프로젝트의 원칙입니다. 검증 전 항목은 모두 등급을 붙여 표기합니다.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수정본 핵심 변경사항 요약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다섯 영역의 변경은 모두 하나의 판단에서 나왔습니다 — 장치를 사용자에게 맞춰 고정한다.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424245"/>
          </a:solidFill>
          <a:ln w="12700">
            <a:solidFill>
              <a:srgbClr val="4242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21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1091672" cy="329184"/>
          </a:xfrm>
          <a:prstGeom prst="roundRect">
            <a:avLst>
              <a:gd name="adj" fmla="val 27778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45920"/>
            <a:ext cx="1381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영역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96598" y="1645920"/>
            <a:ext cx="39463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45284" y="1645920"/>
            <a:ext cx="4630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975104"/>
            <a:ext cx="11091672" cy="687629"/>
          </a:xfrm>
          <a:prstGeom prst="roundRect">
            <a:avLst>
              <a:gd name="adj" fmla="val 1329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20824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96598" y="2020824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이동식 하이브리드 입력장치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45284" y="2020824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 위치에 고정되는 고정형 입력장치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708453"/>
            <a:ext cx="11091672" cy="687629"/>
          </a:xfrm>
          <a:prstGeom prst="roundRect">
            <a:avLst>
              <a:gd name="adj" fmla="val 13298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754173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문제정의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96598" y="2754173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책상 환경의 한 손 사용자 중심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45284" y="2754173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침대를 사용하는 신경근육질환자까지 확장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441802"/>
            <a:ext cx="11091672" cy="687629"/>
          </a:xfrm>
          <a:prstGeom prst="roundRect">
            <a:avLst>
              <a:gd name="adj" fmla="val 1329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487522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페르소나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96598" y="3487522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뇌졸중 편마비 사무직 (47세)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45284" y="3487522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신경근육질환 재택 근무자 (35세)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75150"/>
            <a:ext cx="11091672" cy="687629"/>
          </a:xfrm>
          <a:prstGeom prst="roundRect">
            <a:avLst>
              <a:gd name="adj" fmla="val 13298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220870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96598" y="4220870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다방향 스위치, 이동식 본체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45284" y="4220870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지지부 신설로 BANK A/B 전환, 토글 스위치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908499"/>
            <a:ext cx="11091672" cy="687629"/>
          </a:xfrm>
          <a:prstGeom prst="roundRect">
            <a:avLst>
              <a:gd name="adj" fmla="val 1329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954219"/>
            <a:ext cx="138103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96598" y="4954219"/>
            <a:ext cx="3946350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ESP32-S3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45284" y="4954219"/>
            <a:ext cx="4630436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Seeed XIAO nRF52840 Plus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11091672" cy="640080"/>
          </a:xfrm>
          <a:prstGeom prst="roundRect">
            <a:avLst>
              <a:gd name="adj" fmla="val 22857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" y="5742432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5F5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완성된 결과물은 3D 도면과 펌웨어를 공개해, 필요한 사용자가 저비용으로 직접 제작하고 자신의 신체 조건에 맞게 수정할 수 있도록 하는 것이 최종 목표입니다.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신청서 수정사항 보고 — 팀 딸깍</dc:title>
  <dc:subject>PptxGenJS Presentation</dc:subject>
  <dc:creator>팀 딸깍</dc:creator>
  <cp:lastModifiedBy>팀 딸깍</cp:lastModifiedBy>
  <cp:revision>1</cp:revision>
  <dcterms:created xsi:type="dcterms:W3CDTF">2026-08-09T02:33:29Z</dcterms:created>
  <dcterms:modified xsi:type="dcterms:W3CDTF">2026-08-09T02:33:29Z</dcterms:modified>
</cp:coreProperties>
</file>