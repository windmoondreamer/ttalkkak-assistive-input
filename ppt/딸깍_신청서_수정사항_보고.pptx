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 ·  ‘컴퓨터 및 전자기기 접근성 보조기기’ 부문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615184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신청서 수정 사항 보고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52958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손의 잔존 손가락 움직임으로 키보드와 마우스를 통합 제어하는 고정형 입력장치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133088"/>
            <a:ext cx="3657600" cy="1828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708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딸깍   ·   김민섭 · 윤홍민 · 장재원 · 김예진   ·   동국대 전자전기공학부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원본 참가신청서 대비 변경 내용 및 설계 심화 정리 · 2026.08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무엇이 달라졌는가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 사용자 범위와 사용 환경을 재정의하고, 컨셉·페르소나·하드웨어 구조를 함께 조정했습니다.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365367" y="1600200"/>
            <a:ext cx="9144" cy="47091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7847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변경된 네 가지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6515" y="1600200"/>
            <a:ext cx="52337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변경하지 않은 전제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5784723" cy="96697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0208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020824"/>
            <a:ext cx="51812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컨셉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2295144"/>
            <a:ext cx="5181219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이동식 하이브리드 입력장치 → 손이 놓이는 위치에 고정되는 고정형 입력장치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969514"/>
            <a:ext cx="5784723" cy="96697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06095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060954"/>
            <a:ext cx="51812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정의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5840" y="3335274"/>
            <a:ext cx="5181219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 확장 — 신경근육질환·척수손상 등 침대 사용 환경 추가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009644"/>
            <a:ext cx="5784723" cy="96697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41010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101084"/>
            <a:ext cx="51812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페르소나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4375404"/>
            <a:ext cx="5181219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뇌졸중 편마비 사무직(47세) → 신경근육질환 재택 근무자(35세), 침대 환경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5049774"/>
            <a:ext cx="5784723" cy="96697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514121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5141214"/>
            <a:ext cx="51812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하드웨어 설계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05840" y="5415534"/>
            <a:ext cx="5181219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지지부·BANK 전환 구조 신설, 제어부를 Seeed XIAO nRF52840 Plus로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6515" y="1929384"/>
            <a:ext cx="36576" cy="96697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3091" y="1929384"/>
            <a:ext cx="5197221" cy="96697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9395" y="2020824"/>
            <a:ext cx="49046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드라이버 설치 불필요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9395" y="2295144"/>
            <a:ext cx="4904613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운영체제 표준 HID 복합 장치로 동작. 설치 권한이 없는 PC에서도 연결 즉시 사용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6515" y="2969514"/>
            <a:ext cx="36576" cy="96697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3091" y="2969514"/>
            <a:ext cx="5197221" cy="96697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9395" y="3060954"/>
            <a:ext cx="49046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트랙볼 기반 포인팅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9395" y="3335274"/>
            <a:ext cx="4904613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팔 전체를 움직이지 않고 엄지만으로 커서를 360도 제어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6515" y="4009644"/>
            <a:ext cx="36576" cy="96697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3091" y="4009644"/>
            <a:ext cx="5197221" cy="96697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9395" y="4101084"/>
            <a:ext cx="49046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 안에서 완결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89395" y="4375404"/>
            <a:ext cx="4904613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장치에서 떼지 않은 채 문자 입력과 커서 제어를 모두 수행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6515" y="5049774"/>
            <a:ext cx="36576" cy="96697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43091" y="5049774"/>
            <a:ext cx="5197221" cy="96697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9395" y="5141214"/>
            <a:ext cx="49046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도면·펌웨어 공개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89395" y="5415534"/>
            <a:ext cx="4904613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완성 후 3D 도면과 펌웨어를 공개해 저비용 자가 제작과 개인별 수정을 허용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6089904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변경의 방향은 “기능 추가”가 아니라 “사용 환경의 재정의”입니다.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· 컨셉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아이디어 한줄소개, 이렇게 바뀌었습니다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조작 방식 중심의 서술에서, 사용자의 잔존 움직임과 거치 조건을 전제로 한 서술로 전환했습니다.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5509260" cy="1529306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709928"/>
            <a:ext cx="51800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13232" y="1929384"/>
            <a:ext cx="51800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 전용 하이브리드 입력장치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221992"/>
            <a:ext cx="5180076" cy="79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‘인체공학적 버티컬 구조’와 ‘트랙볼 기반 통합 제어’를 핵심으로 하는 한 손 전용 하이브리드 입력장치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31052" y="1600200"/>
            <a:ext cx="5509260" cy="152930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5644" y="1709928"/>
            <a:ext cx="51800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295644" y="1929384"/>
            <a:ext cx="51800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고정형 통합 입력장치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95644" y="2221992"/>
            <a:ext cx="5180076" cy="79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손의 잔존 손가락 움직임으로 키보드와 마우스를 통합 제어하는 고정형 입력장치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202658"/>
            <a:ext cx="11091672" cy="32918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24837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관점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42616" y="324837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85432" y="3248378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531842"/>
            <a:ext cx="11091672" cy="53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531842"/>
            <a:ext cx="11091672" cy="731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577562"/>
            <a:ext cx="1691640" cy="44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장치의 위치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42616" y="3577562"/>
            <a:ext cx="3950208" cy="44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사용자가 손으로 밀어 움직임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85432" y="3577562"/>
            <a:ext cx="4645152" cy="44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손이 놓이는 위치·각도에 고정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066201"/>
            <a:ext cx="11091672" cy="5343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066201"/>
            <a:ext cx="11091672" cy="731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111921"/>
            <a:ext cx="1691640" cy="44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전제 능력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42616" y="4111921"/>
            <a:ext cx="3950208" cy="44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손을 자유롭게 옮길 수 있음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85432" y="4111921"/>
            <a:ext cx="4645152" cy="44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팔 이동 없이 손가락만 움직일 수 있음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600561"/>
            <a:ext cx="11091672" cy="53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600561"/>
            <a:ext cx="11091672" cy="731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646281"/>
            <a:ext cx="1691640" cy="44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설계의 축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42616" y="4646281"/>
            <a:ext cx="3950208" cy="44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조작 방식(하이브리드)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85432" y="4646281"/>
            <a:ext cx="4645152" cy="44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거치 조건(고정)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5134920"/>
            <a:ext cx="11091672" cy="5343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5134920"/>
            <a:ext cx="11091672" cy="731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5180640"/>
            <a:ext cx="1691640" cy="44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휴대성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42616" y="5180640"/>
            <a:ext cx="3950208" cy="44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들고 다니며 어디서나 사용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85432" y="5180640"/>
            <a:ext cx="4645152" cy="44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거치 지점에 고정 — 휴대성 대신 접근성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5742432"/>
            <a:ext cx="11091672" cy="5669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" y="5815584"/>
            <a:ext cx="10799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이동식·하이브리드 조작에서, 잔존 움직임에 맞춰 ‘고정된 위치’를 전제로 한 설계로 전환했습니다.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· 문제정의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 사용자 범위를 확장했습니다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책상 환경의 한 손 사용자에 더해, 침대에서 장시간 컴퓨터를 사용하는 사용자를 포함했습니다.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089904" y="1600200"/>
            <a:ext cx="9144" cy="40690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대상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31052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추가된 대상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5509260" cy="106040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039112"/>
            <a:ext cx="51800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질환·상태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13232" y="2258568"/>
            <a:ext cx="51800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뇌졸중 후 편마비 · 상지 절단 · 뇌성마비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" y="2551176"/>
            <a:ext cx="5180076" cy="32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한쪽 상지만 자유롭게 사용할 수 있는 사용자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062940"/>
            <a:ext cx="36576" cy="1354961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3062940"/>
            <a:ext cx="5472684" cy="1354961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154380"/>
            <a:ext cx="5180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 환경과 병목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3428700"/>
            <a:ext cx="5180076" cy="879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책상·노트북 환경에서 표준 키보드와 마우스를 사용.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손이 두 장치 사이를 끊임없이 왕복해야 하며, 그 결과 문자 입력과 커서 제어를 동시에 수행할 수 없습니다.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31052" y="1929384"/>
            <a:ext cx="5509260" cy="10604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5644" y="2039112"/>
            <a:ext cx="51800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질환·상태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295644" y="2258568"/>
            <a:ext cx="51800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신경근육질환 · 척수손상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95644" y="2551176"/>
            <a:ext cx="5180076" cy="32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체간과 어깨·팔의 움직임이 제한된 사용자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31052" y="3062940"/>
            <a:ext cx="36576" cy="1354961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7628" y="3062940"/>
            <a:ext cx="5472684" cy="1354961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3932" y="3154380"/>
            <a:ext cx="5180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 환경과 병목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13932" y="3428700"/>
            <a:ext cx="5180076" cy="879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전동침대에서 장시간 반누운 자세로 컴퓨터를 사용.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손가락의 미세 움직임이 남아 있어도 팔을 들어 키보드 위에 유지하기 어렵고, 침대 위에는 장치를 둘 평면이 부족하며 자세가 바뀔 때마다 위치를 다시 맞춰야 합니다.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491053"/>
            <a:ext cx="36576" cy="1178227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" y="4491053"/>
            <a:ext cx="5472684" cy="1178227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582493"/>
            <a:ext cx="5180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대안의 한계 — 상용 한 손 키보드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" y="4856813"/>
            <a:ext cx="5180076" cy="702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포인팅 기능이 없어 마우스를 따로 두어야 하므로 왕복 문제가 그대로 남습니다.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가격이 높고 국내 유통과 사후 지원도 제한적입니다.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1052" y="4491053"/>
            <a:ext cx="36576" cy="1178227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67628" y="4491053"/>
            <a:ext cx="5472684" cy="1178227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3932" y="4582493"/>
            <a:ext cx="5180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대안의 한계 — 소프트웨어 방식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13932" y="4856813"/>
            <a:ext cx="5180076" cy="702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화상 키보드나 마우스키 기능은 별도 설치와 설정이 필요합니다.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설치 권한이 없는 회사·학교·공공기관 PC에서는 사용할 수 없습니다.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5742432"/>
            <a:ext cx="11091672" cy="5669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5815584"/>
            <a:ext cx="10799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손가락의 신뢰할 수 있는 움직임이 없는 사용자는 본 시제품의 1차 대상이 아님을 신청서에 명시했습니다.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· 문제정의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‘무엇이 병목인가’에 대한 관점이 바뀌었습니다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병목을 모드 전환 비용이 아니라, 입력면에 접근하고 두 장치 사이를 이동하는 과정으로 재정의했습니다.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11091672" cy="39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관점 — 병목은 커서 제어와 문자 입력 사이의 모드 전환 비용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064875"/>
            <a:ext cx="2622042" cy="1231537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74603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문자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595227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키보드에 손을 올린 상태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70682" y="2064875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71850" y="2064875"/>
            <a:ext cx="2622042" cy="1231537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1578" y="2174603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마우스로 이동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81578" y="2595227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장치 간 왕복 1회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93892" y="2064875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5060" y="2064875"/>
            <a:ext cx="2622042" cy="1231537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4788" y="2174603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커서 제어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4788" y="2595227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마우스를 잡은 상태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817102" y="2064875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18270" y="2064875"/>
            <a:ext cx="2622042" cy="1231537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27998" y="2174603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키보드로 복귀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27998" y="2595227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장치 간 왕복 2회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333298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 방향 — 손을 장치에서 떼지 않고 두 기능을 모두 수행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" y="3643884"/>
            <a:ext cx="11091672" cy="39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 관점 — 병목은 팔을 들어 입력면에 접근하고 두 장치 사이를 반복 이동하는 것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108559"/>
            <a:ext cx="2622042" cy="1231537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218287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팔을 들어 올림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" y="4638911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체간·어깨 근력 필요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70682" y="4108559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71850" y="4108559"/>
            <a:ext cx="2622042" cy="1231537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81578" y="4218287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입력면에 접근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81578" y="4638911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 위 평면 부족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93892" y="4108559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5060" y="4108559"/>
            <a:ext cx="2622042" cy="1231537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4788" y="4218287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장치 위치 재조정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4788" y="4638911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자세가 바뀔 때마다 반복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817102" y="4108559"/>
            <a:ext cx="201168" cy="1231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18270" y="4108559"/>
            <a:ext cx="2622042" cy="1231537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27998" y="4218287"/>
            <a:ext cx="2402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27998" y="4638911"/>
            <a:ext cx="2402586" cy="59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여기까지 와야 시작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8640" y="5376672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 방향 — 장치를 손이 놓이는 위치·각도에 고정해 앞의 세 단계를 제거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8640" y="5687568"/>
            <a:ext cx="11091672" cy="62179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" y="5760720"/>
            <a:ext cx="10799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 자체보다, 팔을 지지하고 입력 위치를 유지하는 과정이 더 큰 부담입니다. 작은 자세 변화에도 작업이 중단되거나 보조인의 도움이 필요해집니다.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· 페르소나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페르소나 ‘허교환’, 설정이 새로 바뀌었습니다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확장된 대상 사용자에 맞춰 연령·질환·자세·사용 환경을 모두 재설정했습니다.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11091672" cy="32918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645920"/>
            <a:ext cx="14907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항목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41734" y="1645920"/>
            <a:ext cx="40560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90420" y="1645920"/>
            <a:ext cx="47401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929384"/>
            <a:ext cx="11091672" cy="53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929384"/>
            <a:ext cx="11091672" cy="731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975104"/>
            <a:ext cx="1490758" cy="4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나이 · 배경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41734" y="1975104"/>
            <a:ext cx="4056078" cy="4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47세 · 물류회사 사무직, 뇌졸중 후 재택 복귀 준비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90420" y="1975104"/>
            <a:ext cx="4740164" cy="4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35세 · 신경근육질환, 재택 온라인 검수·문서 업무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462936"/>
            <a:ext cx="11091672" cy="53355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462936"/>
            <a:ext cx="11091672" cy="731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508656"/>
            <a:ext cx="1490758" cy="4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자세 · 환경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41734" y="2508656"/>
            <a:ext cx="4056078" cy="4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 책상에서 회사 지급 노트북 사용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90420" y="2508656"/>
            <a:ext cx="4740164" cy="4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전동침대에서 상체 10~30도 반누운 자세, 하루 4~6시간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996489"/>
            <a:ext cx="11091672" cy="53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996489"/>
            <a:ext cx="11091672" cy="731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042209"/>
            <a:ext cx="1490758" cy="4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어려움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41734" y="3042209"/>
            <a:ext cx="4056078" cy="4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좌측 편마비로 키보드·마우스 왕복 타이핑이 어려움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90420" y="3042209"/>
            <a:ext cx="4740164" cy="4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팔 들기 어려움, 장치 밀림·이탈, 화면을 보며 키 위치 확인 어려움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530041"/>
            <a:ext cx="11091672" cy="53355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530041"/>
            <a:ext cx="11091672" cy="731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575761"/>
            <a:ext cx="1490758" cy="4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 조건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41734" y="3575761"/>
            <a:ext cx="4056078" cy="4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손으로 문자 입력과 커서 제어를 함께 수행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90420" y="3575761"/>
            <a:ext cx="4740164" cy="4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 각도가 바뀌어도 장치 방향 조정, 손가락별 키맵·활성 힘 변경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063594"/>
            <a:ext cx="11091672" cy="53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063594"/>
            <a:ext cx="11091672" cy="731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109314"/>
            <a:ext cx="1490758" cy="4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목표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441734" y="4109314"/>
            <a:ext cx="4056078" cy="4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분당 100타 이상, 재택 근무자로 정식 복귀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90420" y="4109314"/>
            <a:ext cx="4740164" cy="4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보호자의 재배치 없이 90분 이상 연속 작업, 분당 100타 이상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670298"/>
            <a:ext cx="2718054" cy="998982"/>
          </a:xfrm>
          <a:prstGeom prst="rect">
            <a:avLst/>
          </a:prstGeom>
          <a:solidFill>
            <a:srgbClr val="F4F4F4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4798314"/>
            <a:ext cx="24620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35세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76656" y="5182362"/>
            <a:ext cx="2462022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신경근육질환 재택 근무자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339846" y="4670298"/>
            <a:ext cx="2718054" cy="998982"/>
          </a:xfrm>
          <a:prstGeom prst="rect">
            <a:avLst/>
          </a:prstGeom>
          <a:solidFill>
            <a:srgbClr val="F4F4F4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67862" y="4798314"/>
            <a:ext cx="24620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10~30°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3467862" y="5182362"/>
            <a:ext cx="2462022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상체 거상 각도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131052" y="4670298"/>
            <a:ext cx="2718054" cy="998982"/>
          </a:xfrm>
          <a:prstGeom prst="rect">
            <a:avLst/>
          </a:prstGeom>
          <a:solidFill>
            <a:srgbClr val="F4F4F4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9068" y="4798314"/>
            <a:ext cx="24620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4~6시간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259068" y="5182362"/>
            <a:ext cx="2462022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하루 컴퓨터 사용 시간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922258" y="4670298"/>
            <a:ext cx="2718054" cy="998982"/>
          </a:xfrm>
          <a:prstGeom prst="rect">
            <a:avLst/>
          </a:prstGeom>
          <a:solidFill>
            <a:srgbClr val="F4F4F4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50274" y="4798314"/>
            <a:ext cx="24620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90분+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050274" y="5182362"/>
            <a:ext cx="2462022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보호자 도움 없는 연속 작업 목표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48640" y="5742432"/>
            <a:ext cx="11091672" cy="5669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" y="5815584"/>
            <a:ext cx="10799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 변경은 보호자가 아니라 본인이 가능한 범위에서 수행할 수 있어야 한다는 조건을 새로 추가했습니다.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· 설계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본체 구조가 ‘고정형’으로 바뀌고, 지지부가 새로 생겼습니다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밀어서 움직이는 구조를 버리고, 고정된 본체를 좌우로 눕혀 키 뱅크를 전환하는 구조를 추가했습니다.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649224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참고 디자인 레퍼런스 : Azeron Cyborg II (azeron.com)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89904" y="1600200"/>
            <a:ext cx="9144" cy="40690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본체 — 이동식에서 고정형으로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31052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지지부 — 신규 추가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929384"/>
            <a:ext cx="5509260" cy="1035442"/>
          </a:xfrm>
          <a:prstGeom prst="rect">
            <a:avLst/>
          </a:prstGeom>
          <a:solidFill>
            <a:srgbClr val="FFFFFF"/>
          </a:solidFill>
          <a:ln w="15875">
            <a:solidFill>
              <a:srgbClr val="0F6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039112"/>
            <a:ext cx="51800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13232" y="2258568"/>
            <a:ext cx="51800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마우스처럼 미는 방식 → 거치 고정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" y="2551176"/>
            <a:ext cx="5180076" cy="303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 사이드레일, 침대 테이블, 별도 관절형 암에 고정합니다.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037978"/>
            <a:ext cx="36576" cy="1339983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" y="3037978"/>
            <a:ext cx="5472684" cy="1339983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29418"/>
            <a:ext cx="5180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미끄럼 · 이탈 방지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3403738"/>
            <a:ext cx="5180076" cy="86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강하게 쥐지 않아도 위치가 유지되도록 손등 밴드 또는 측면 가이드를 둡니다.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버티컬 구조로 손목의 비틀림(회내)을 막아 장시간 사용 시 피로와 관절 부담을 줄입니다.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31052" y="1929384"/>
            <a:ext cx="5509260" cy="103544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5644" y="2039112"/>
            <a:ext cx="51800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신규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295644" y="2258568"/>
            <a:ext cx="51800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본체를 좌우로 눕혀 BANK 전환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95644" y="2551176"/>
            <a:ext cx="5180076" cy="303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전투기 조종간처럼 본체 전체를 기울여 키보드 뱅크(BANK A / B)를 선택합니다.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31052" y="3037978"/>
            <a:ext cx="36576" cy="1339983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7628" y="3037978"/>
            <a:ext cx="5472684" cy="1339983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3932" y="3129418"/>
            <a:ext cx="5180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스위치 방식 변경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13932" y="3403738"/>
            <a:ext cx="5180076" cy="86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손가락 입력을 기존 ‘다방향 스위치’에서 ‘토글 스위치’ 방식으로 변경했습니다.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손가락 관절의 미세한 움직임 방향에 따라 서로 다른 키가 입력됩니다.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451113"/>
            <a:ext cx="36576" cy="1218167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" y="4451113"/>
            <a:ext cx="5472684" cy="1218167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542553"/>
            <a:ext cx="5180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고정이 전제가 되는가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1520" y="4816873"/>
            <a:ext cx="5180076" cy="742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침대에서는 중력이 기기를 눌러 고정해 주지 않고, 자세를 바꿀 때마다 위치가 흐트러집니다.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자중과 논슬립만으로는 유지되지 않으므로 거치 고정을 설계의 전제로 둡니다.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31052" y="4451113"/>
            <a:ext cx="36576" cy="1218167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67628" y="4451113"/>
            <a:ext cx="5472684" cy="1218167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13932" y="4542553"/>
            <a:ext cx="5180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참고한 구조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13932" y="4816873"/>
            <a:ext cx="5180076" cy="742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얹은 채 손가락마다 여러 키를 배치하는 게이밍 키패드 구조를 지지부 설계의 출발점으로 참고했습니다.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다만 목표는 게임 조작이 아니라 문자 입력과 커서 제어의 통합입니다.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5742432"/>
            <a:ext cx="11091672" cy="5669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" y="5815584"/>
            <a:ext cx="10799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고정형으로 바꾸면서 잃은 것은 휴대성이고, 얻은 것은 팔을 들지 않아도 되는 접근성입니다.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· 설계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BANK 전환 방식, 이렇게 구현했습니다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손가락 토글 4개만으로 26키를 확보하기 위한 전환 구조입니다.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78118" y="1600200"/>
            <a:ext cx="9144" cy="47091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6929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전환 메커니즘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14694" y="1600200"/>
            <a:ext cx="5325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 예산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5692902" cy="141122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0208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020824"/>
            <a:ext cx="50893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좌우 기울임으로 선택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2295144"/>
            <a:ext cx="5089398" cy="93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왼쪽으로 4~5° 기울이면 BANK A, 오른쪽으로 4~5° 기울이면 BANK B를 선택합니다.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본체 전체를 눕히는 동작이므로 손가락을 따로 쓰지 않습니다.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413760"/>
            <a:ext cx="5692902" cy="141122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5052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505200"/>
            <a:ext cx="50893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스프링 복귀 · 상태 유지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5840" y="3779520"/>
            <a:ext cx="5089398" cy="93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손을 놓으면 스프링으로 중앙에 복귀하되, 선택된 BANK는 그대로 유지됩니다.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어느 뱅크인지는 LED 색상과 짧은 진동으로 표시합니다.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898136"/>
            <a:ext cx="5692902" cy="141122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49895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989576"/>
            <a:ext cx="50893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손가락당 3동작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5263896"/>
            <a:ext cx="5089398" cy="93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 하나마다 위로 밀기 · 누르기 · 아래로 밀기 세 동작을 각각 다른 입력으로 인식합니다.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손가락을 옮기지 않고 관절 방향만 바꾸므로 팔 이동이 필요 없습니다.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14694" y="1929384"/>
            <a:ext cx="5325618" cy="723282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0998" y="2020824"/>
            <a:ext cx="5033010" cy="361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× 3 × 2 + 2 = 26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60998" y="2382465"/>
            <a:ext cx="5033010" cy="178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토글 4개 × 3동작 × 2 BANK = 24키, 여기에 엄지 보조키를 더해 총 26키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14694" y="2725818"/>
            <a:ext cx="1726438" cy="614790"/>
          </a:xfrm>
          <a:prstGeom prst="rect">
            <a:avLst/>
          </a:prstGeom>
          <a:solidFill>
            <a:srgbClr val="F4F4F4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765" y="2811889"/>
            <a:ext cx="1554297" cy="278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765" y="3089945"/>
            <a:ext cx="15542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총 입력키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114284" y="2725818"/>
            <a:ext cx="1726438" cy="614790"/>
          </a:xfrm>
          <a:prstGeom prst="rect">
            <a:avLst/>
          </a:prstGeom>
          <a:solidFill>
            <a:srgbClr val="F4F4F4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00355" y="2811889"/>
            <a:ext cx="1554297" cy="278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00355" y="3089945"/>
            <a:ext cx="15542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BANK당 키 수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913874" y="2725818"/>
            <a:ext cx="1726438" cy="614790"/>
          </a:xfrm>
          <a:prstGeom prst="rect">
            <a:avLst/>
          </a:prstGeom>
          <a:solidFill>
            <a:srgbClr val="F4F4F4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99945" y="2811889"/>
            <a:ext cx="1554297" cy="278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999945" y="3089945"/>
            <a:ext cx="15542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키당 동작 수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314694" y="3413760"/>
            <a:ext cx="5325618" cy="470408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0998" y="3468624"/>
            <a:ext cx="141732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BANK당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06334" y="3468624"/>
            <a:ext cx="348767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토글 12키 + 엄지 보조키 1키 = 13키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14694" y="3884168"/>
            <a:ext cx="5325618" cy="4704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0998" y="3939032"/>
            <a:ext cx="141732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총 입력키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06334" y="3939032"/>
            <a:ext cx="348767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BANK A · B 합계 26키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14694" y="4354576"/>
            <a:ext cx="5325618" cy="470408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60998" y="4409440"/>
            <a:ext cx="141732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엄지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06334" y="4409440"/>
            <a:ext cx="348767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트랙볼과 보조키를 담당 (문자 입력에서 제외)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14694" y="4898136"/>
            <a:ext cx="5325618" cy="4748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60998" y="4971288"/>
            <a:ext cx="5033010" cy="32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MODE 키로 영문 → 한글 → 숫자·기호 순서로 입력 모드를 전환합니다. (신규 추가)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14694" y="5446088"/>
            <a:ext cx="36576" cy="86327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1270" y="5446088"/>
            <a:ext cx="5289042" cy="86327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7574" y="5537528"/>
            <a:ext cx="4996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BANK 전환이 필요한가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497574" y="5811848"/>
            <a:ext cx="4996434" cy="38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손가락 토글만으로는 12키에 그칩니다. 뱅크 전환으로 물리 키 수를 두 배로 늘려, 손가락을 옮기지 않고도 26키를 확보합니다.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· 부품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제어부(MCU)를 변경했습니다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연결 방식과 전원 구조는 그대로 두고, 제어부 모듈만 교체했습니다.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5509260" cy="1741815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709928"/>
            <a:ext cx="51800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13232" y="1929384"/>
            <a:ext cx="51800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ESP32-S3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221992"/>
            <a:ext cx="5180076" cy="1010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신청서 원본 제출 시점의 제어부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31052" y="1600200"/>
            <a:ext cx="5509260" cy="1741815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5644" y="1709928"/>
            <a:ext cx="51800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295644" y="1929384"/>
            <a:ext cx="51800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Seeed XIAO nRF52840 Plus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95644" y="2221992"/>
            <a:ext cx="5180076" cy="1010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USB-C 유선과 BLE 무선을 모두 지원하는 제어부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415167"/>
            <a:ext cx="11091672" cy="422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 없이 유지되는 부분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910440"/>
            <a:ext cx="11091672" cy="5862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3965304"/>
            <a:ext cx="1005840" cy="47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0" y="3965304"/>
            <a:ext cx="9665208" cy="47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USB-C 유선 + BLE 무선 동시 지원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496720"/>
            <a:ext cx="11091672" cy="58628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4551584"/>
            <a:ext cx="1005840" cy="47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4551584"/>
            <a:ext cx="9665208" cy="47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USB-C 단자가 배터리 충전을 겸함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5083000"/>
            <a:ext cx="11091672" cy="58628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5137864"/>
            <a:ext cx="1005840" cy="47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5137864"/>
            <a:ext cx="9665208" cy="47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드라이버 설치 없이 표준 HID(키보드·마우스 복합 장치)로 동작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5742432"/>
            <a:ext cx="11091672" cy="5669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5815584"/>
            <a:ext cx="10799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제어부가 바뀌어도 “설치 권한이 없는 PC에서 연결 즉시 사용”이라는 핵심 전제는 그대로 유지됩니다.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400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 심화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신청서 제출 이후 사전행사에서 구체화한 내용입니다. 아래 네 장은 수정본을 전제로 작성되었습니다.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· 설계 심화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엄지 하나에 세 역할을 몰아넣으면 드래그가 불가능합니다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예상도에서 엄지가 담당하던 트랙볼·클릭·모디파이어를 분리하고, 순차 입력으로 조합을 대체했습니다.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089904" y="1600200"/>
            <a:ext cx="9144" cy="40690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— 엄지는 한 번에 한 곳에만 있습니다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31052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해법 — 자원을 분리하고 순차 입력으로 바꿉니다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36576" cy="119786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" y="1929384"/>
            <a:ext cx="5472684" cy="119786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020824"/>
            <a:ext cx="5180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드래그가 되지 않음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2295144"/>
            <a:ext cx="51800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좌클릭을 누른 채 트랙볼을 굴려야 하는데, 같은 엄지가 둘을 동시에 할 수 없습니다.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6576" cy="119786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3200400"/>
            <a:ext cx="5472684" cy="119786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91840"/>
            <a:ext cx="5180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조합 단축키가 되지 않음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3566160"/>
            <a:ext cx="51800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Ctrl + 클릭, Shift + 클릭처럼 모디파이어와 클릭을 함께 써야 하는 조작이 성립하지 않습니다.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36576" cy="119786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" y="4471416"/>
            <a:ext cx="5472684" cy="119786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62856"/>
            <a:ext cx="5180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요구사항과 정면 충돌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4837176"/>
            <a:ext cx="51800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“손을 떼지 않은 채 드래그와 조합 단축키를 모두 수행”한다는 페르소나 요구 조건을 만족할 수 없습니다.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31052" y="1929384"/>
            <a:ext cx="5509260" cy="119786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7356" y="20208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8252" y="2020824"/>
            <a:ext cx="4905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드래그 락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8252" y="2295144"/>
            <a:ext cx="49057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좌클릭 더블탭으로 버튼 눌림을 유지하고, 이동 후 한 번 더 탭해 해제합니다. 상용 트랙볼에 이미 있는 검증된 방식입니다.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31052" y="3200400"/>
            <a:ext cx="5509260" cy="119786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7356" y="32918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8252" y="3291840"/>
            <a:ext cx="4905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원샷 모디파이어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8252" y="3566160"/>
            <a:ext cx="49057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Ctrl을 탭하면 다음 입력 하나에만 적용되고 자동 해제됩니다. 더블탭은 잠금, 세 번째 탭은 해제입니다.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1052" y="4471416"/>
            <a:ext cx="5509260" cy="119786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7356" y="45628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8252" y="4562856"/>
            <a:ext cx="4905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 분리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8252" y="4837176"/>
            <a:ext cx="49057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엄지는 포인팅 전담, 네 손가락은 문자·기능 전담으로 나눕니다.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5742432"/>
            <a:ext cx="11091672" cy="5669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5815584"/>
            <a:ext cx="10799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원샷 모디파이어는 Windows 고정키와 결과가 같지만 OS 설정을 건드리지 않습니다 — 설치 권한 제약을 그대로 만족합니다.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· 설계 심화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누운 자세에서는 기기보다 거치가 먼저 무너집니다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중력 방향과 시선 조건이 달라지면서, 앉은 자세를 전제로 한 고정·피드백 전략이 성립하지 않습니다.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089904" y="1600200"/>
            <a:ext cx="9144" cy="40690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누운 자세가 바꾸는 조건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31052" y="1600200"/>
            <a:ext cx="5509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그에 맞춘 거치 설계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36576" cy="88011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" y="1929384"/>
            <a:ext cx="5472684" cy="8801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020824"/>
            <a:ext cx="5180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중력 방향이 90° 바뀐다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2295144"/>
            <a:ext cx="5180076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자중과 논슬립만으로 잡던 고정 전략이 무효가 됩니다.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882646"/>
            <a:ext cx="36576" cy="88011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2882646"/>
            <a:ext cx="5472684" cy="8801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974086"/>
            <a:ext cx="5180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손이 시야에서 사라진다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3248406"/>
            <a:ext cx="5180076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화면이 정면·머리 위에 있어 손을 내려다볼 수 없습니다. 블라인드 조작이 전제가 됩니다.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835908"/>
            <a:ext cx="36576" cy="88011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" y="3835908"/>
            <a:ext cx="5472684" cy="8801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27348"/>
            <a:ext cx="5180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LED 표시가 보이지 않는다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4201668"/>
            <a:ext cx="5180076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 옆의 LED는 시야 밖입니다. 상태 표시가 시각에 의존할 수 없습니다.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789170"/>
            <a:ext cx="36576" cy="88011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" y="4789170"/>
            <a:ext cx="5472684" cy="8801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880610"/>
            <a:ext cx="5180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케이블을 늘어뜨릴 수 없다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5154930"/>
            <a:ext cx="5180076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얼굴과 목 위를 지나는 케이블은 체위 변경 때 걸리고 안전 문제도 됩니다.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31052" y="1929384"/>
            <a:ext cx="5509260" cy="8801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7356" y="20208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8252" y="2020824"/>
            <a:ext cx="4905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클램프 암 고정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8252" y="2295144"/>
            <a:ext cx="4905756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 프레임에 클램프 암을 상시 고정하고, 기기를 손이 이미 놓인 위치로 가져옵니다.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1052" y="2882646"/>
            <a:ext cx="5509260" cy="8801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7356" y="297408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8252" y="2974086"/>
            <a:ext cx="4905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자석 원터치 탈착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8252" y="3248406"/>
            <a:ext cx="4905756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체위 변경 후 사용자가 혼자 사용 자세로 복귀할 수 있도록 합니다.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31052" y="3835908"/>
            <a:ext cx="5509260" cy="8801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7356" y="39273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88252" y="3927348"/>
            <a:ext cx="4905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햅틱 피드백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88252" y="4201668"/>
            <a:ext cx="4905756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LED 레이어 표시를 진동 또는 짧은 비프음 패턴으로 대체합니다.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31052" y="4789170"/>
            <a:ext cx="5509260" cy="8801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7356" y="488061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88252" y="4880610"/>
            <a:ext cx="4905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BLE 우선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88252" y="5154930"/>
            <a:ext cx="4905756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무선을 기본 연결로 두고, USB-C는 충전과 설정용으로 사용합니다.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5742432"/>
            <a:ext cx="11091672" cy="5669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" y="5815584"/>
            <a:ext cx="10799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사용자군의 진짜 실패 지점은 성능이 아니라 ‘부탁의 횟수’입니다. 한 번 설치하면 체위가 바뀌어도 혼자 복귀할 수 있어야 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· 설계 심화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드라이버 없이 한글을 입력하는 경로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펌웨어가 자모를 확정해 두벌식 스캔코드로 방출하고, 음절 조합은 운영체제 IME가 담당합니다.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2057400" cy="167241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70992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토글 입력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2130552"/>
            <a:ext cx="1837944" cy="103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4개 × 3동작 × 2 BANK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06040" y="1600200"/>
            <a:ext cx="201168" cy="167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07208" y="1600200"/>
            <a:ext cx="2057400" cy="167241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16936" y="170992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펌웨어 상태머신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16936" y="2130552"/>
            <a:ext cx="1837944" cy="103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입력열을 자모로 해석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64608" y="1600200"/>
            <a:ext cx="201168" cy="167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5776" y="1600200"/>
            <a:ext cx="2057400" cy="167241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5504" y="170992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자모 확정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75504" y="2130552"/>
            <a:ext cx="1837944" cy="103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확정 지연 버퍼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123176" y="1600200"/>
            <a:ext cx="201168" cy="167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24344" y="1600200"/>
            <a:ext cx="2057400" cy="167241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34072" y="170992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두벌식 스캔코드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34072" y="2130552"/>
            <a:ext cx="1837944" cy="103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표준 HID 키보드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381744" y="1600200"/>
            <a:ext cx="201168" cy="167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582912" y="1600200"/>
            <a:ext cx="2057400" cy="167241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170992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OS IME가 음절 조합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92640" y="2130552"/>
            <a:ext cx="1837944" cy="1032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설치·권한 불필요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330919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번째 단계부터는 완전한 표준 HID입니다. 장치는 IME를 흉내내지 않고, IME에게 두벌식으로 말을 겁니다.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" y="3620086"/>
            <a:ext cx="36576" cy="204919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" y="3620086"/>
            <a:ext cx="5472684" cy="204919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711526"/>
            <a:ext cx="5180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확정 지연 (Commit Delay)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1520" y="3985846"/>
            <a:ext cx="5180076" cy="157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모음이 확정될 때까지 스캔코드 방출을 보류합니다. 다음 자음이 입력되거나 유휴 시간이 지나면 한 번에 방출하므로, 백스페이스로 이미 보낸 키를 회수할 필요가 없습니다.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조합 중 백스페이스의 동작이 자모 단위인지 음절 단위인지는 운영체제마다 다릅니다. 회수를 아예 쓰지 않는 것이 이 차이를 피하는 방법입니다.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실사용에서는 다음 자음이 곧바로 입력되므로 체감 지연이 거의 없습니다.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31052" y="3620086"/>
            <a:ext cx="5509260" cy="683065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7356" y="3674950"/>
            <a:ext cx="1143000" cy="573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한/영 전환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48372" y="3674950"/>
            <a:ext cx="3945636" cy="573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OS 기본 경로(HID LANG1) 사용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31052" y="4303151"/>
            <a:ext cx="5509260" cy="683065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7356" y="4358015"/>
            <a:ext cx="1143000" cy="573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모드 전환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48372" y="4358015"/>
            <a:ext cx="3945636" cy="573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MODE 키로 영문 → 한글 → 숫자·기호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31052" y="4986215"/>
            <a:ext cx="5509260" cy="683065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7356" y="5041079"/>
            <a:ext cx="1143000" cy="573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상태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48372" y="5041079"/>
            <a:ext cx="3945636" cy="573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OS별 IME 실측 미완료 — 최우선 검증 항목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5742432"/>
            <a:ext cx="11091672" cy="5669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" y="5815584"/>
            <a:ext cx="10799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“드라이버 없이 어떻게 한글이 입력되는가”는 심사에서 가장 먼저 나올 질문이며, 이 경로가 그 답입니다.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· 검증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‘분당 100타’를 어떻게 증명할 것인가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목표 타수를 입력당 소요 시간으로 환산하고, 단계별 측정 계획으로 근거를 만듭니다.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649224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‘타’는 한국 타자 검정 기준의 자모 1타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5509260" cy="1354741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1691640"/>
            <a:ext cx="5216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100타/분 = 초당 2.7입력 = 입력당 약 220ms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" y="2057400"/>
            <a:ext cx="5216652" cy="806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한글 1음절 ≈ 자모 2.7개, 자모 1개당 평균 입력 약 1.6회로 환산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31052" y="1600200"/>
            <a:ext cx="1146429" cy="677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 · 표준 키보드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68921" y="1820013"/>
            <a:ext cx="3448431" cy="23774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68921" y="1820013"/>
            <a:ext cx="1253975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27080" y="1600200"/>
            <a:ext cx="713232" cy="677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40타/분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31052" y="2277570"/>
            <a:ext cx="1146429" cy="677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 목표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68921" y="2497384"/>
            <a:ext cx="3448431" cy="23774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68921" y="2497384"/>
            <a:ext cx="3134937" cy="23774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27080" y="2277570"/>
            <a:ext cx="713232" cy="677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100타/분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028093"/>
            <a:ext cx="11091672" cy="32918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073813"/>
            <a:ext cx="23063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단계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57374" y="3073813"/>
            <a:ext cx="56742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내용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224186" y="3073813"/>
            <a:ext cx="23063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357277"/>
            <a:ext cx="11091672" cy="56428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357277"/>
            <a:ext cx="11091672" cy="731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402997"/>
            <a:ext cx="2306398" cy="47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기준선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57374" y="3402997"/>
            <a:ext cx="5674204" cy="47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손으로 표준 두벌식 키보드 사용 시 분당 40타 (페르소나 설정값)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224186" y="3402997"/>
            <a:ext cx="2306398" cy="47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 완료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921562"/>
            <a:ext cx="11091672" cy="564285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921562"/>
            <a:ext cx="11091672" cy="731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3967282"/>
            <a:ext cx="2306398" cy="47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 트레이너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57374" y="3967282"/>
            <a:ext cx="5674204" cy="47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실기 없이 배열만으로 도달 가능한 타수 측정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224186" y="3967282"/>
            <a:ext cx="2306398" cy="47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하드웨어 완성 전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485846"/>
            <a:ext cx="11091672" cy="56428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4485846"/>
            <a:ext cx="11091672" cy="731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531566"/>
            <a:ext cx="2306398" cy="47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팀원 학습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57374" y="4531566"/>
            <a:ext cx="5674204" cy="47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4인이 30분 학습 후 초기 습득 속도와 오타율 측정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224186" y="4531566"/>
            <a:ext cx="2306398" cy="47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시제품 완성 직후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5050131"/>
            <a:ext cx="11091672" cy="564285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050131"/>
            <a:ext cx="11091672" cy="731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5095851"/>
            <a:ext cx="2306398" cy="47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시연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57374" y="5095851"/>
            <a:ext cx="5674204" cy="47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문장 입력 + 웹 브라우징 (드래그·조합 단축키 포함)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224186" y="5095851"/>
            <a:ext cx="2306398" cy="47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5687568"/>
            <a:ext cx="11091672" cy="62179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" y="5760720"/>
            <a:ext cx="10799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발표에서는 ‘100타 달성’이 아니라 학습곡선의 초기 기울기를 근거로 제시합니다. 시연에는 드래그와 조합 단축키를 반드시 포함합니다.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 · 리스크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원가와 미검증 항목을 함께 공개합니다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아래 수치는 실견적이 아닌 추정치입니다. 확정 전까지 추정임을 표시한 채로 사용합니다.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649224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단가는 상용 부품 유용을 전제한 추정치 · 실견적 필요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538978" y="1600200"/>
            <a:ext cx="9144" cy="40690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00200"/>
            <a:ext cx="4958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개략 원가 (1대 기준, 추정)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80126" y="1600200"/>
            <a:ext cx="60601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미검증 항목과 확신도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929384"/>
            <a:ext cx="914400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본체 부품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554480" y="2140849"/>
            <a:ext cx="3129534" cy="23774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2140849"/>
            <a:ext cx="2064847" cy="23774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3742" y="1929384"/>
            <a:ext cx="713232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96,000원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590059"/>
            <a:ext cx="914400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거치 부품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554480" y="2801524"/>
            <a:ext cx="3129534" cy="23774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2801524"/>
            <a:ext cx="1064687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3742" y="2590059"/>
            <a:ext cx="713232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49,500원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250733"/>
            <a:ext cx="914400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54480" y="3462198"/>
            <a:ext cx="3129534" cy="23774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54480" y="3462198"/>
            <a:ext cx="3129534" cy="23774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3742" y="3250733"/>
            <a:ext cx="713232" cy="66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145,500원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984560"/>
            <a:ext cx="4958334" cy="84236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4039424"/>
            <a:ext cx="960120" cy="732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조달 리스크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83080" y="4039424"/>
            <a:ext cx="3577590" cy="732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광센서 국내 유통 제한 — 리드타임 확인이 최우선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826920"/>
            <a:ext cx="4958334" cy="8423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4881784"/>
            <a:ext cx="960120" cy="732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대체안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83080" y="4881784"/>
            <a:ext cx="3577590" cy="732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시판 엄지 트랙볼에서 센서·볼 조립체 하베스팅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80126" y="1929384"/>
            <a:ext cx="6060186" cy="32918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9854" y="1975104"/>
            <a:ext cx="20121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항목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994660" y="1975104"/>
            <a:ext cx="7847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확신도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072056" y="1975104"/>
            <a:ext cx="245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80126" y="2258568"/>
            <a:ext cx="6060186" cy="55094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80126" y="2258568"/>
            <a:ext cx="6060186" cy="731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89854" y="2304288"/>
            <a:ext cx="2012198" cy="459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두벌식 스캔코드 변환 방식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94660" y="2304288"/>
            <a:ext cx="784788" cy="459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높음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072056" y="2304288"/>
            <a:ext cx="2458528" cy="459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HID 표준 동작에서 직접 도출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80126" y="2809515"/>
            <a:ext cx="6060186" cy="550947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80126" y="2809515"/>
            <a:ext cx="6060186" cy="731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9854" y="2855235"/>
            <a:ext cx="2012198" cy="459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확정 지연의 OS별 실제 동작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994660" y="2855235"/>
            <a:ext cx="784788" cy="459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072056" y="2855235"/>
            <a:ext cx="2458528" cy="459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미검증 — 최우선 검증 항목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80126" y="3360461"/>
            <a:ext cx="6060186" cy="55094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80126" y="3360461"/>
            <a:ext cx="6060186" cy="7315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89854" y="3406181"/>
            <a:ext cx="2012198" cy="459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그립각 · 스위치 작동력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994660" y="3406181"/>
            <a:ext cx="784788" cy="459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072056" y="3406181"/>
            <a:ext cx="2458528" cy="459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추정치, 수요자 멘토링 검증 필요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80126" y="3984560"/>
            <a:ext cx="6060186" cy="84236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26430" y="4039424"/>
            <a:ext cx="1143000" cy="732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BOM 단가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97446" y="4039424"/>
            <a:ext cx="4496562" cy="732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— 추정치이며 실측 견적이 아님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80126" y="4826920"/>
            <a:ext cx="6060186" cy="8423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26430" y="4881784"/>
            <a:ext cx="1143000" cy="732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16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분당 100타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997446" y="4881784"/>
            <a:ext cx="4496562" cy="732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— 계산상 가능하나 실측 없음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8640" y="5742432"/>
            <a:ext cx="11091672" cy="5669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" y="5815584"/>
            <a:ext cx="10799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추정치를 확정값처럼 제시하지 않는 것이 이 프로젝트의 원칙입니다. 검증 전 항목은 모두 등급을 붙여 표기합니다.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2952" y="301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F62F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9811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수정본 핵심 변경사항 요약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9811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다섯 영역의 변경은 모두 하나의 판단에서 나왔습니다 — 장치를 사용자에게 맞춰 고정한다.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9144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제7회 국립재활원 보조기기 해커톤 · 팀 딸깍   ·  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11091672" cy="32918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645920"/>
            <a:ext cx="14907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영역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41734" y="1645920"/>
            <a:ext cx="40560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90420" y="1645920"/>
            <a:ext cx="47401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929384"/>
            <a:ext cx="11091672" cy="733349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929384"/>
            <a:ext cx="11091672" cy="7315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975104"/>
            <a:ext cx="149075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컨셉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41734" y="1975104"/>
            <a:ext cx="405607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이동식 하이브리드 입력장치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90420" y="1975104"/>
            <a:ext cx="4740164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 위치에 고정되는 고정형 입력장치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662733"/>
            <a:ext cx="11091672" cy="733349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662733"/>
            <a:ext cx="11091672" cy="7315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708453"/>
            <a:ext cx="149075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문제정의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41734" y="2708453"/>
            <a:ext cx="405607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책상 환경의 한 손 사용자 중심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90420" y="2708453"/>
            <a:ext cx="4740164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침대를 사용하는 신경근육질환자까지 확장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396082"/>
            <a:ext cx="11091672" cy="733349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396082"/>
            <a:ext cx="11091672" cy="7315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441802"/>
            <a:ext cx="149075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페르소나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41734" y="3441802"/>
            <a:ext cx="405607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뇌졸중 편마비 사무직 (47세)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90420" y="3441802"/>
            <a:ext cx="4740164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신경근육질환 재택 근무자 (35세)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129430"/>
            <a:ext cx="11091672" cy="733349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129430"/>
            <a:ext cx="11091672" cy="7315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175150"/>
            <a:ext cx="149075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41734" y="4175150"/>
            <a:ext cx="405607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손가락 다방향 스위치, 이동식 본체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90420" y="4175150"/>
            <a:ext cx="4740164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지지부 신설로 BANK A/B 전환, 토글 스위치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862779"/>
            <a:ext cx="11091672" cy="733349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862779"/>
            <a:ext cx="11091672" cy="7315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908499"/>
            <a:ext cx="149075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부품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441734" y="4908499"/>
            <a:ext cx="4056078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ESP32-S3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90420" y="4908499"/>
            <a:ext cx="4740164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6C6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Seeed XIAO nRF52840 Plus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5669280"/>
            <a:ext cx="11091672" cy="64008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" y="5742432"/>
            <a:ext cx="10799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완성된 결과물은 3D 도면과 펌웨어를 공개해, 필요한 사용자가 저비용으로 직접 제작하고 자신의 신체 조건에 맞게 수정할 수 있도록 하는 것이 최종 목표입니다.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신청서 수정사항 보고 — 팀 딸깍</dc:title>
  <dc:subject>PptxGenJS Presentation</dc:subject>
  <dc:creator>팀 딸깍</dc:creator>
  <cp:lastModifiedBy>팀 딸깍</cp:lastModifiedBy>
  <cp:revision>1</cp:revision>
  <dcterms:created xsi:type="dcterms:W3CDTF">2026-08-09T02:01:18Z</dcterms:created>
  <dcterms:modified xsi:type="dcterms:W3CDTF">2026-08-09T02:01:18Z</dcterms:modified>
</cp:coreProperties>
</file>