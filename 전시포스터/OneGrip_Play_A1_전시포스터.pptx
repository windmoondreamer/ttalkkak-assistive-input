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7120fa83764610" /><Relationship Type="http://schemas.openxmlformats.org/officeDocument/2006/relationships/extended-properties" Target="/docProps/app.xml" Id="R12f7112080b6457c" /><Relationship Type="http://schemas.openxmlformats.org/officeDocument/2006/relationships/officeDocument" Target="/ppt/presentation.xml" Id="R63c61a3ac17f49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c8ee578fa466c"/>
  </p:sldMasterIdLst>
  <p:notesMasterIdLst>
    <p:notesMasterId xmlns:r="http://schemas.openxmlformats.org/officeDocument/2006/relationships" r:id="R28d7a9b515ae4db2"/>
  </p:notesMasterIdLst>
  <p:sldIdLst>
    <p:sldId xmlns:r="http://schemas.openxmlformats.org/officeDocument/2006/relationships" id="256" r:id="R844c89ec722f4932"/>
  </p:sldIdLst>
  <p:sldSz cx="21383625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99b0660c74995" /><Relationship Type="http://schemas.openxmlformats.org/officeDocument/2006/relationships/slideMaster" Target="/ppt/slideMasters/slideMaster1.xml" Id="R8eac8ee578fa466c" /><Relationship Type="http://schemas.openxmlformats.org/officeDocument/2006/relationships/notesMaster" Target="/ppt/notesMasters/notesMaster1.xml" Id="R28d7a9b515ae4db2" /><Relationship Type="http://schemas.openxmlformats.org/officeDocument/2006/relationships/presProps" Target="/ppt/presProps.xml" Id="R5cc924bb6dbd43ad" /><Relationship Type="http://schemas.openxmlformats.org/officeDocument/2006/relationships/tableStyles" Target="/ppt/tableStyles.xml" Id="R8067d601240644b2" /><Relationship Type="http://schemas.openxmlformats.org/officeDocument/2006/relationships/slide" Target="/ppt/slides/slide1.xml" Id="R844c89ec722f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c2a50316db4b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30ebb371344bd0" /><Relationship Type="http://schemas.openxmlformats.org/officeDocument/2006/relationships/notesMaster" Target="/ppt/notesMasters/notesMaster1.xml" Id="R3d190890aa3e40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C:/Users/guest2/Documents/재활기기 공모전/전시포스터/../README.md</a:t>
            </a:r>
          </a:p>
          <a:p xmlns:a="http://schemas.openxmlformats.org/drawingml/2006/main">
            <a:r>
              <a:t>- C:/Users/guest2/Documents/재활기기 공모전/전시포스터/../cad/source_snapshot/team_claude_latest/README.md</a:t>
            </a:r>
          </a:p>
          <a:p xmlns:a="http://schemas.openxmlformats.org/drawingml/2006/main">
            <a:r>
              <a:t>- C:/Users/guest2/Documents/재활기기 공모전/전시포스터/../cad/onegrip-index-middle-cassette-v2/README.md</a:t>
            </a:r>
          </a:p>
          <a:p xmlns:a="http://schemas.openxmlformats.org/drawingml/2006/main">
            <a:r>
              <a:t>- C:/Users/guest2/Documents/재활기기 공모전/전시포스터/../cad/onegrip-full-module-v3/README.md</a:t>
            </a:r>
          </a:p>
          <a:p xmlns:a="http://schemas.openxmlformats.org/drawingml/2006/main">
            <a:r>
              <a:t>- C:/Users/guest2/Documents/재활기기 공모전/전시포스터/build/assets/V4_ISOMETRIC_no_title.png</a:t>
            </a:r>
          </a:p>
          <a:p xmlns:a="http://schemas.openxmlformats.org/drawingml/2006/main">
            <a:r>
              <a:t>- C:/Users/guest2/Documents/재활기기 공모전/전시포스터/build/assets/V4_CUTAWAY_no_title.png</a:t>
            </a:r>
          </a:p>
          <a:p xmlns:a="http://schemas.openxmlformats.org/drawingml/2006/main">
            <a:r>
              <a:t>- C:/Users/guest2/Documents/재활기기 공모전/전시포스터/build/assets/01_final_cap_view_no_title.png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de3b2efd7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35c2fb17c8403a" /><Relationship Type="http://schemas.openxmlformats.org/officeDocument/2006/relationships/slideLayout" Target="/ppt/slideLayouts/slideLayout1.xml" Id="Re8099929277c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099929277c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fa73b2f7e4e1e" /><Relationship Type="http://schemas.openxmlformats.org/officeDocument/2006/relationships/image" Target="/ppt/media/image.png" Id="R6465d603ddd34c7b" /><Relationship Type="http://schemas.openxmlformats.org/officeDocument/2006/relationships/image" Target="/ppt/media/image2.png" Id="Rf4f6a0ed34a24b7d" /><Relationship Type="http://schemas.openxmlformats.org/officeDocument/2006/relationships/image" Target="/ppt/media/image3.png" Id="Rc74a7279675f41c7" /><Relationship Type="http://schemas.openxmlformats.org/officeDocument/2006/relationships/notesSlide" Target="/ppt/notesSlides/notesSlide1.xml" Id="R63be8d7c1862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B2BBEA0-B7D7-471A-BEED-454355FE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583525" cy="2590800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172230"/>
          </a:solidFill>
          <a:ln xmlns:a="http://schemas.openxmlformats.org/drawingml/2006/main" w="0">
            <a:solidFill>
              <a:srgbClr val="1722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F98F7-F62F-4669-B5C4-139020C2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3425"/>
            <a:ext cx="95250" cy="1428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824B"/>
          </a:solidFill>
          <a:ln xmlns:a="http://schemas.openxmlformats.org/drawingml/2006/main" w="0">
            <a:solidFill>
              <a:srgbClr val="D9824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FE89A-DF7A-40F6-B13D-CCBD1124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1072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ONEGRIP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85C9-E71C-41C6-8338-D8C696D9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9EDF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E9EDF0"/>
                </a:solidFill>
                <a:latin typeface="Noto Sans KR"/>
                <a:ea typeface="Noto Sans KR"/>
                <a:cs typeface="Noto Sans KR"/>
              </a:rPr>
              <a:t>한 손 게임·미디어 통합 컨트롤러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DC09B-4961-4DB7-AD2F-6E10EDDB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1457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FC9D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FC9D1"/>
                </a:solidFill>
                <a:latin typeface="Noto Sans KR"/>
                <a:ea typeface="Noto Sans KR"/>
                <a:cs typeface="Noto Sans KR"/>
              </a:rPr>
              <a:t>이동·시점·주요 액션을 한 손 안에서 분리해 동시에 조작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6731D-2442-4302-A91E-E638061B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838200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EC8D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EC8D0"/>
                </a:solidFill>
                <a:latin typeface="Noto Sans KR"/>
                <a:ea typeface="Noto Sans KR"/>
                <a:cs typeface="Noto Sans KR"/>
              </a:rPr>
              <a:t>ONE-HAND ACCESSIBLE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4A35D-7B37-4D90-999E-CE10996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371600"/>
            <a:ext cx="442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D9824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D9824B"/>
                </a:solidFill>
                <a:latin typeface="Noto Sans KR"/>
                <a:ea typeface="Noto Sans KR"/>
                <a:cs typeface="Noto Sans KR"/>
              </a:rPr>
              <a:t>GAME  ·  WEB  ·  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41B05-C41A-4EE6-95C9-4822D03C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20002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80AD0-9612-4F13-95CC-EB603D4D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1145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제7회 국립재활원 보조기기 해커톤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9C43-AED5-40E2-8504-2CD44D65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7572375" cy="54102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486A3-0264-4C96-8086-363A9ED6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76200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4B"/>
          </a:solidFill>
          <a:ln xmlns:a="http://schemas.openxmlformats.org/drawingml/2006/main" w="0">
            <a:solidFill>
              <a:srgbClr val="D982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1C934-07E3-4F53-8A13-C0C80506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57600"/>
            <a:ext cx="682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대상 사용자와 아이디어 개요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738D1-FC38-4394-A377-07FB0659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07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849FA-7477-49F4-B971-87314EF1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6915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E8DD"/>
          </a:solidFill>
          <a:ln xmlns:a="http://schemas.openxmlformats.org/drawingml/2006/main" w="0">
            <a:solidFill>
              <a:srgbClr val="F6E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F8E86-D526-4D41-8A3F-B48AFD1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24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9824B"/>
                </a:solidFill>
                <a:latin typeface="Noto Sans KR"/>
                <a:ea typeface="Noto Sans KR"/>
                <a:cs typeface="Noto Sans KR"/>
              </a:rPr>
              <a:t>주 대상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420BD-87CC-4821-965F-7F1BDC7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0075"/>
            <a:ext cx="5410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편마비·상지 절단·기능 제한 또는 하반신 마비 등으로 침상·리클라이닝 자세에서 한 손 입력이 필요한 사용자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42262-6241-40E7-99E2-71350570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691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양손 게임패드를 사용하기 어렵거나 침상·리클라이닝 자세로 활동하는 사용자는 이동·시점·버튼 입력을 동시에 수행하기 어렵고, 디지털 여가 활동의 선택지가 제한됩니다.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4E08E-DAB5-40CE-9E6C-FEF70923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19900"/>
            <a:ext cx="6915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OneGrip Play는 사용 가능한 한 손의 손목·엄지·검지·중지 움직임을 분리해 양손 입력을 한 손 안에서 재구성합니다.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F06BB-D406-4A1F-871E-68D1F419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72400"/>
            <a:ext cx="6915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EEF1"/>
          </a:solidFill>
          <a:ln xmlns:a="http://schemas.openxmlformats.org/drawingml/2006/main" w="0">
            <a:solidFill>
              <a:srgbClr val="E8EE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385EA-50B3-4084-BBB7-1CF4C26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9248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75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2758B"/>
                </a:solidFill>
                <a:latin typeface="Noto Sans KR"/>
                <a:ea typeface="Noto Sans KR"/>
                <a:cs typeface="Noto Sans KR"/>
              </a:rPr>
              <a:t>활용 목표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AC710-843A-48C0-B9BB-734E1719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858125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09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84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4384A"/>
                </a:solidFill>
                <a:latin typeface="Noto Sans KR"/>
                <a:ea typeface="Noto Sans KR"/>
                <a:cs typeface="Noto Sans KR"/>
              </a:rPr>
              <a:t>PC 게임(LoL 등) · Nintendo Switch · 웹 서핑 · 유튜브·OTT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FAFE1-0498-46FA-9581-63B2507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12334875" cy="54102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654A7-DDAF-4FA2-95D7-F5D0C62E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76200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84A"/>
          </a:solidFill>
          <a:ln xmlns:a="http://schemas.openxmlformats.org/drawingml/2006/main" w="0">
            <a:solidFill>
              <a:srgbClr val="2438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EC1E5-0CCF-45CB-9933-F742570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57600"/>
            <a:ext cx="11591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한 손 안에서 세 가지 역할을 분리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AC482-97C6-4193-918E-BC7A7B7E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1183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399FF-2C33-4C7D-873A-D43CE15B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838700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824B"/>
          </a:solidFill>
          <a:ln xmlns:a="http://schemas.openxmlformats.org/drawingml/2006/main" w="0">
            <a:solidFill>
              <a:srgbClr val="D982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9B6B7-F6E5-4C10-9EA2-443D98E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4838700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824B"/>
          </a:solidFill>
          <a:ln xmlns:a="http://schemas.openxmlformats.org/drawingml/2006/main" w="0">
            <a:solidFill>
              <a:srgbClr val="D982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17AFD-38F8-4D55-B487-F5F6ADE5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162675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758B"/>
          </a:solidFill>
          <a:ln xmlns:a="http://schemas.openxmlformats.org/drawingml/2006/main" w="0">
            <a:solidFill>
              <a:srgbClr val="5275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B220B-5AB8-496D-9387-6CC6377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162675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758B"/>
          </a:solidFill>
          <a:ln xmlns:a="http://schemas.openxmlformats.org/drawingml/2006/main" w="0">
            <a:solidFill>
              <a:srgbClr val="5275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198FC7-091C-4B43-96D8-DD2BA067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7486650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8372"/>
          </a:solidFill>
          <a:ln xmlns:a="http://schemas.openxmlformats.org/drawingml/2006/main" w="0">
            <a:solidFill>
              <a:srgbClr val="5D83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B8035-CB28-47D0-A8BC-17BFD42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486650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8372"/>
          </a:solidFill>
          <a:ln xmlns:a="http://schemas.openxmlformats.org/drawingml/2006/main" w="0">
            <a:solidFill>
              <a:srgbClr val="5D83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7149F3-9982-4DD1-8D03-BC481A41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14850"/>
            <a:ext cx="2619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82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C1EE78-F7C7-4DE6-BFDF-6E51EE1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86300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손목·팔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4A5684-9C9D-4D41-9AE8-17BD35DD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4514850"/>
            <a:ext cx="27527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28575">
            <a:solidFill>
              <a:srgbClr val="D982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C902F5-375C-4869-A8AC-C68880D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686300"/>
            <a:ext cx="2371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하단 2축 짐벌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8EFD46-ACDC-4E4B-99AB-BDD21BF3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4514850"/>
            <a:ext cx="3381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E8DD"/>
          </a:solidFill>
          <a:ln xmlns:a="http://schemas.openxmlformats.org/drawingml/2006/main" w="28575">
            <a:solidFill>
              <a:srgbClr val="D982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BF961A-A84A-41D6-A88F-1A316CF6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46291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이동(PC 게임·Switch)</a:t>
            </a:r>
          </a:p>
          <a:p xmlns:a="http://schemas.openxmlformats.org/drawingml/2006/main">
            <a:pPr algn="ctr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메뉴 탐색(웹·미디어)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EBDDD1-CF59-4E60-8798-6C0CCA07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38825"/>
            <a:ext cx="2619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75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2155C0-5B58-4F3D-8820-6331DA69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102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엄지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07D55-589E-45ED-AC7F-D6AC5094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838825"/>
            <a:ext cx="27527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28575">
            <a:solidFill>
              <a:srgbClr val="5275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16C0F-3343-4555-9C97-11AE21C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010275"/>
            <a:ext cx="2371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소형 조이스틱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0BBE9C-8946-434C-B6FB-85E3CAF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5838825"/>
            <a:ext cx="3381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EEF1"/>
          </a:solidFill>
          <a:ln xmlns:a="http://schemas.openxmlformats.org/drawingml/2006/main" w="28575">
            <a:solidFill>
              <a:srgbClr val="52758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586927-A405-46D4-9CBF-87EEA81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5953125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시점(PC 게임·Switch)</a:t>
            </a:r>
          </a:p>
          <a:p xmlns:a="http://schemas.openxmlformats.org/drawingml/2006/main">
            <a:pPr algn="ctr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포인터·스크롤(웹·미디어)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3D6B40-DCC5-4AA8-98E5-6410305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162800"/>
            <a:ext cx="2619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D837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FB2C22-5090-4F37-803C-54360C44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334250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검지·중지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BFA90E-179F-4680-B324-513BBD1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7162800"/>
            <a:ext cx="27527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28575">
            <a:solidFill>
              <a:srgbClr val="5D837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F3214C-15C1-4D95-97C1-77F23FC9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334250"/>
            <a:ext cx="2371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8개 손가락 버튼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5C5118-72E4-4010-972B-3B451697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7162800"/>
            <a:ext cx="3381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5EEE9"/>
          </a:solidFill>
          <a:ln xmlns:a="http://schemas.openxmlformats.org/drawingml/2006/main" w="28575">
            <a:solidFill>
              <a:srgbClr val="5D837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006AAD-270F-442C-BD19-7D7E5C7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727710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주요 액션(PC 게임·Switch)</a:t>
            </a:r>
          </a:p>
          <a:p xmlns:a="http://schemas.openxmlformats.org/drawingml/2006/main">
            <a:pPr algn="ctr">
              <a:def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클릭·재생(웹·미디어)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5FDBA1-147E-4571-822F-03709F4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334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PC 게임·Switch에서는 이동·시점·액션을, 웹·미디어에서는 메뉴 탐색·포인터·클릭/재생을 나눠 조작합니다.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4C8FD8-D0CA-4938-A54E-7F693988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77375"/>
            <a:ext cx="12001500" cy="9858375"/>
          </a:xfrm>
          <a:prstGeom xmlns:a="http://schemas.openxmlformats.org/drawingml/2006/main" prst="roundRect">
            <a:avLst>
              <a:gd name="adj" fmla="val 1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1BAFDE-51BD-4CA0-8912-0234829D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76200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84A"/>
          </a:solidFill>
          <a:ln xmlns:a="http://schemas.openxmlformats.org/drawingml/2006/main" w="0">
            <a:solidFill>
              <a:srgbClr val="2438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D5B8D9-E6B2-4141-9C1B-DFA7F472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9658350"/>
            <a:ext cx="1125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제품 구조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99A101-B2BC-450E-853A-EE4D02AB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29850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D8C27A-D74E-4931-86CD-B55415B0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172700"/>
            <a:ext cx="11391900" cy="7429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5d603ddd34c7b"/>
          <a:stretch xmlns:a="http://schemas.openxmlformats.org/drawingml/2006/main"/>
        </p:blipFill>
        <p:spPr>
          <a:xfrm xmlns:a="http://schemas.openxmlformats.org/drawingml/2006/main">
            <a:off x="3370903" y="10267950"/>
            <a:ext cx="6402693" cy="7239000"/>
          </a:xfrm>
          <a:prstGeom xmlns:a="http://schemas.openxmlformats.org/drawingml/2006/main" prst="roundRect">
            <a:avLst>
              <a:gd name="adj" fmla="val 1053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FB54F0-2B84-4CAB-886C-676B7C1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64125"/>
            <a:ext cx="11391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384A"/>
          </a:solidFill>
          <a:ln xmlns:a="http://schemas.openxmlformats.org/drawingml/2006/main" w="0">
            <a:solidFill>
              <a:srgbClr val="2438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71CC90-AA5E-4B8C-9F25-2A90CA5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165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4F5F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4F5F3"/>
                </a:solidFill>
                <a:latin typeface="Noto Sans KR"/>
                <a:ea typeface="Noto Sans KR"/>
                <a:cs typeface="Noto Sans KR"/>
              </a:rPr>
              <a:t>20° 팔받침 하우징  ·  ±15° 손목 기울임  ·  엄지 조이스틱  ·  손가락 버튼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1DA307-5993-4A6E-87EE-ECC80571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9477375"/>
            <a:ext cx="7953375" cy="9858375"/>
          </a:xfrm>
          <a:prstGeom xmlns:a="http://schemas.openxmlformats.org/drawingml/2006/main" prst="roundRect">
            <a:avLst>
              <a:gd name="adj" fmla="val 1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32E3CF-ECBD-40BB-B502-0647D0C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696450"/>
            <a:ext cx="76200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4B"/>
          </a:solidFill>
          <a:ln xmlns:a="http://schemas.openxmlformats.org/drawingml/2006/main" w="0">
            <a:solidFill>
              <a:srgbClr val="D9824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AE5491-FDA8-4E8F-81C0-4DDE4FD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9658350"/>
            <a:ext cx="7210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핵심 기능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E25EEA-E0A8-43F2-AFE8-51AD1307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0229850"/>
            <a:ext cx="745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9ECF0E-3092-4D60-9ADF-23E7CEC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033462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9824B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D9824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71FBC0-E310-4F9B-BFC9-3D10592F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03346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이동과 포인터 조작을 분리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3A5195-BAC5-4C6B-A585-01B8006A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0801350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손목·팔은 이동·메뉴 탐색을, 엄지는 시점·포인터·스크롤을 담당해 두 축계를 독립적으로 사용합니다.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3FEC00-4EAE-4B87-9437-73952E0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15633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334146-E240-4FE0-8040-64C1439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243012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2758B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52758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4A51DE-71D1-419E-84CA-07F24346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24301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손가락 위치를 유지한 8버튼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8A5CC0-D140-4A39-9FA6-E02754AF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2896850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검지·중지가 그립을 놓지 않고 주요 액션과 클릭·재생 제어를 직접 입력하도록 배치했습니다.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742C04-405B-45F9-B002-DBE0B64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36588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5E2217-E08C-48C4-AB4A-C28A239A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452562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D8372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5D837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69A43B-4EE5-4796-B4F0-939E4BC3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45256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팔을 받치는 20° 인체공학 하우징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EAEF61-CF98-45B2-9764-BB07B17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4992350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손목만 버티지 않도록 팔 지지면을 넓히고, 하부 짐벌을 하우징 내부에 수용했습니다.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FEB91B-CD23-48C8-8284-CFE87BA1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57543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9D603A-8382-4BC0-B173-0EF45B5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662112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6B61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B96B6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1FE408-C502-4996-88B0-14FCD27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66211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출력·조립·수리를 고려한 모듈화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E6F521E-62A7-40F2-A16F-AA978D5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7087850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버튼 캐리어를 분리하고 하우징을 2분할해 FDM 출력과 내부 조립 순서를 함께 설계했습니다.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323DAD-418B-4ED6-BB7E-936611EC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78498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4E4B6C-75BB-4D40-B213-64599E61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0"/>
            <a:ext cx="20240625" cy="7953375"/>
          </a:xfrm>
          <a:prstGeom xmlns:a="http://schemas.openxmlformats.org/drawingml/2006/main" prst="roundRect">
            <a:avLst>
              <a:gd name="adj" fmla="val 1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A82D47-31CC-4834-BCC9-606011E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31075"/>
            <a:ext cx="76200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84A"/>
          </a:solidFill>
          <a:ln xmlns:a="http://schemas.openxmlformats.org/drawingml/2006/main" w="0">
            <a:solidFill>
              <a:srgbClr val="24384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AC7E69-0DDB-4D8E-BF0F-1252E92E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992975"/>
            <a:ext cx="19497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구현 및 검증 결과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FD16D94-DFCC-4FB2-8C09-A9446C74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64475"/>
            <a:ext cx="1974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6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6EFB69-131A-46A0-A2AF-4CC5B470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0"/>
            <a:ext cx="5715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19050">
            <a:solidFill>
              <a:srgbClr val="26374D"/>
            </a:solidFill>
            <a:prstDash val="solid"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6a0ed34a24b7d"/>
          <a:srcRect xmlns:a="http://schemas.openxmlformats.org/drawingml/2006/main" l="2515" t="0" r="2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20669250"/>
            <a:ext cx="5524500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E52FEE-02C0-4EA8-A4EC-516A964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0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손가락 입력부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A65B95-8FF9-4243-B9A3-305FC671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03150"/>
            <a:ext cx="557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8개 버튼 간 비의도 간섭 0 mm³</a:t>
            </a:r>
          </a:p>
          <a:p xmlns:a="http://schemas.openxmlformats.org/drawingml/2006/main">
            <a:pPr algn="ctr">
              <a:def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정격 행정 0.35 mm · 최소 벽 1.20 mm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D70CEB6-C3FE-4191-8E19-51025873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0"/>
            <a:ext cx="5715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a7279675f41c7"/>
          <a:stretch xmlns:a="http://schemas.openxmlformats.org/drawingml/2006/main"/>
        </p:blipFill>
        <p:spPr>
          <a:xfrm xmlns:a="http://schemas.openxmlformats.org/drawingml/2006/main">
            <a:off x="8034208" y="20669250"/>
            <a:ext cx="3362585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7748DB-4A4F-4D50-9139-D6317AA0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0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하부 짐벌·하우징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88C721A-B3FC-46EE-93C3-F544FA41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203150"/>
            <a:ext cx="557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±15° 전 자세 간섭 0</a:t>
            </a:r>
          </a:p>
          <a:p xmlns:a="http://schemas.openxmlformats.org/drawingml/2006/main">
            <a:pPr algn="ctr">
              <a:def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최초 접촉 15.88° · 검증 게이트 23/23 PASS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379021-524E-4422-8AB0-4391980B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0574000"/>
            <a:ext cx="752475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B6DADB1-1CD5-40EE-B62C-DF19810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0793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84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384A"/>
                </a:solidFill>
                <a:latin typeface="Noto Sans KR"/>
                <a:ea typeface="Noto Sans KR"/>
                <a:cs typeface="Noto Sans KR"/>
              </a:rPr>
              <a:t>활용 장면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6B2503-E04C-4854-94D7-28024F3F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208216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하나의 그립으로 게임과 일상 미디어 조작까지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08D61BA-7B5D-4390-8383-5BD6FB8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1431250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371F68-2B48-4CCE-9AB3-4492A1E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21669375"/>
            <a:ext cx="80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824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51ABAD8-AE92-4629-9B06-64221A22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1840825"/>
            <a:ext cx="457200" cy="314325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D9824B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B70E54-2D79-4048-B66E-572BF0DF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21551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824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69594D8-2DB9-4511-AF36-9DCBA43B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22789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824B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9FAEDB-AF70-4D0A-802E-E3E74A6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2166937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PC 게임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15C52F-6FD9-4A62-ADF5-B702F4B9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22117050"/>
            <a:ext cx="1943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LoL 등 이동·시점·주요 액션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D868B4A-EC05-49FC-9662-D28580B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1431250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7AF41A-1454-45BD-92FB-868C1157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21669375"/>
            <a:ext cx="80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6B6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25C09D0-23DB-4D84-A784-3643CC2C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1831300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B96B6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1075BFD-7072-436B-A47F-971716BD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218694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6B6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01D585-1429-4324-B144-08F43434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75" y="21936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B61"/>
          </a:solidFill>
          <a:ln xmlns:a="http://schemas.openxmlformats.org/drawingml/2006/main" w="0">
            <a:solidFill>
              <a:srgbClr val="B96B6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05BBFC-21A7-4D0C-9E8A-7BD100C4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22117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B61"/>
          </a:solidFill>
          <a:ln xmlns:a="http://schemas.openxmlformats.org/drawingml/2006/main" w="0">
            <a:solidFill>
              <a:srgbClr val="B96B6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67B8DA0-8078-44DF-8B7E-8F19B15E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0" y="2166937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16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Nintendo Switch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F78CCE2-543F-4D45-BABE-2A6C51B2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0" y="22117050"/>
            <a:ext cx="1943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한 손 조작용 게임 입력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546CCA5-9940-4AFA-82B0-47AD57F3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3431500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EF764B-E9D3-4958-A7BC-30F6BAB2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23669625"/>
            <a:ext cx="80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758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5627D12-DCB5-4185-A571-5934E1E7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3841075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2758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734C1F-E0BF-4DDC-97D7-5627F18A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386012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58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C42E517-56C6-4889-A924-A33C85F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24060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58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6B78F1-7792-41D7-A568-E470F400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236696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웹 서핑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92C98E-866F-4920-8460-D91EEA0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24117300"/>
            <a:ext cx="1943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포인터 이동·클릭·스크롤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EF6FF6-E8C0-43D6-986D-396C50B2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3431500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19050">
            <a:solidFill>
              <a:srgbClr val="CED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6EFA22C-1334-484B-A462-9CFEEA9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23669625"/>
            <a:ext cx="80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837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4F46672-7798-441A-A9CF-9DFCDDA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3850600"/>
            <a:ext cx="495300" cy="40005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5D837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F7C41B4-AABA-4C12-BECB-69A48E2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23945850"/>
            <a:ext cx="1905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8372"/>
          </a:solidFill>
          <a:ln xmlns:a="http://schemas.openxmlformats.org/drawingml/2006/main" w="0">
            <a:solidFill>
              <a:srgbClr val="5D837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77EAED-F0F2-483C-B6D7-981ED27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0" y="236696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유튜브·OTT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73C406-3411-48A3-B3FA-E688D81E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0" y="24117300"/>
            <a:ext cx="1943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973"/>
                </a:solidFill>
                <a:latin typeface="Noto Sans KR"/>
                <a:ea typeface="Noto Sans KR"/>
                <a:cs typeface="Noto Sans KR"/>
              </a:rPr>
              <a:t>탐색·재생·볼륨 제어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E9FB75C-FFEB-427B-8ABE-7416F13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51125"/>
            <a:ext cx="20240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1"/>
          </a:solidFill>
          <a:ln xmlns:a="http://schemas.openxmlformats.org/drawingml/2006/main" w="0">
            <a:solidFill>
              <a:srgbClr val="E8EEF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DA4DB67-4E44-4E6A-B01E-F87AF65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0"/>
            <a:ext cx="1957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384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384A"/>
                </a:solidFill>
                <a:latin typeface="Noto Sans KR"/>
                <a:ea typeface="Noto Sans KR"/>
                <a:cs typeface="Noto Sans KR"/>
              </a:rPr>
              <a:t>한 손 사용자의 게임 접근성을 높이되, 손가락을 새로 외우기보다 손의 자연스러운 역할 분담을 활용합니다.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FDCDB00-D42F-4627-A5D1-E6FAC12C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0"/>
            <a:ext cx="1438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02832"/>
                </a:solidFill>
                <a:latin typeface="Noto Sans KR"/>
                <a:ea typeface="Noto Sans KR"/>
                <a:cs typeface="Noto Sans KR"/>
              </a:rPr>
              <a:t>동국대학교 전자전기공학부  |  김민섭 · 윤홍민 · 장재원 · 김예진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BDED32A-07CA-429F-8597-1C0A6598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29241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24384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4384A"/>
                </a:solidFill>
                <a:latin typeface="Noto Sans KR"/>
                <a:ea typeface="Noto Sans KR"/>
                <a:cs typeface="Noto Sans KR"/>
              </a:rPr>
              <a:t>ONEGRIP PLAY</a:t>
            </a:r>
          </a:p>
        </p:txBody>
      </p:sp>
    </p:spTree>
    <p:extLst>
      <p:ext uri="{BB962C8B-B14F-4D97-AF65-F5344CB8AC3E}">
        <p14:creationId xmlns:p14="http://schemas.microsoft.com/office/powerpoint/2010/main" val="806444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2026-08-24T14:57:06.8960000Z</dcterms:created>
  <dcterms:modified xsi:type="dcterms:W3CDTF">2026-08-24T14:57:06.8960000Z</dcterms:modified>
</coreProperties>
</file>