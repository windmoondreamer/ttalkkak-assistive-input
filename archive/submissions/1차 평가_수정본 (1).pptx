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59" r:id="rId6"/>
    <p:sldId id="275" r:id="rId7"/>
    <p:sldId id="260" r:id="rId8"/>
    <p:sldId id="269" r:id="rId9"/>
    <p:sldId id="262" r:id="rId10"/>
    <p:sldId id="266" r:id="rId11"/>
    <p:sldId id="263" r:id="rId12"/>
    <p:sldId id="273" r:id="rId13"/>
    <p:sldId id="274" r:id="rId14"/>
    <p:sldId id="270" r:id="rId15"/>
    <p:sldId id="265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43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47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0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99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17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9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‘</a:t>
            </a:r>
            <a:r>
              <a:rPr lang="ko-KR" altLang="en-US" sz="44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딸깍</a:t>
            </a:r>
            <a:r>
              <a:rPr lang="en-US" altLang="ko-KR" sz="44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’ </a:t>
            </a:r>
            <a:r>
              <a:rPr lang="en-US" sz="44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sz="44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차 발표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‘컴퓨터 및 전자기기 접근성 </a:t>
            </a:r>
            <a:r>
              <a:rPr lang="en-US" sz="16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보조기기</a:t>
            </a:r>
            <a:r>
              <a:rPr lang="en-US" sz="1600" dirty="0" smtClean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smtClean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김민섭 </a:t>
            </a: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윤홍민 · 장재원 · 김예진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달라졌는가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수정본은 대상 사용자 범위와 사용 환경을 재정의하고, 이에 맞춰 컨셉·페르소나·하드웨어 구조를 함께 조정했습니다.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0686" y="248477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컨셉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이동식 ‘하이브리드’ 입력장치 → 손이 놓이는 위치에 고정되는 ‘고정형’ 입력장치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0" y="24231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42846" y="248477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사용자 확장: 신경근육질환·척수손상 등 침대 사용 환경 추가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0686" y="477077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r>
              <a:rPr lang="en-US" altLang="ko-KR" sz="20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altLang="ko-KR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지지부·BANK</a:t>
            </a:r>
            <a:r>
              <a:rPr lang="en-US" altLang="ko-KR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altLang="ko-KR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altLang="ko-KR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</a:t>
            </a:r>
            <a:r>
              <a:rPr lang="en-US" altLang="ko-KR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제어부를</a:t>
            </a:r>
            <a:r>
              <a:rPr lang="en-US" altLang="ko-KR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Seeed</a:t>
            </a:r>
            <a:r>
              <a:rPr lang="en-US" altLang="ko-KR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XIAO nRF52840 </a:t>
            </a: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Plus로</a:t>
            </a:r>
            <a:r>
              <a:rPr lang="en-US" altLang="ko-KR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altLang="ko-KR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44348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583680" y="47091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42846" y="477077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</a:rPr>
              <a:t>향후 계획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0" y="5303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지지부·BANK 전환 구조 신설, 제어부를 Seeed XIAO nRF52840 Plus로 변경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1148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082C43"/>
                </a:solidFill>
                <a:latin typeface="Malgun Gothic"/>
              </a:rPr>
              <a:t>1차 평가 기준에 대응하는 세 가지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B78"/>
                </a:solidFill>
                <a:latin typeface="Malgun Gothic"/>
              </a:rPr>
              <a:t>국립재활원 심사 기준 「1. 개발 필요성(30%)」의 중요성·신규성·주제부합성 항목에 맞춰 신청서를 보강했습니다.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3575304" cy="3246120"/>
          </a:xfrm>
          <a:prstGeom prst="roundRect">
            <a:avLst>
              <a:gd name="adj" fmla="val 3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2130551"/>
            <a:ext cx="502920" cy="502920"/>
          </a:xfrm>
          <a:prstGeom prst="ellipse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3055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70631"/>
            <a:ext cx="30632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82C43"/>
                </a:solidFill>
                <a:latin typeface="Malgun Gothic"/>
              </a:rPr>
              <a:t>중요성 · 시급성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27831"/>
            <a:ext cx="306324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dirty="0" err="1">
                <a:solidFill>
                  <a:srgbClr val="1F2933"/>
                </a:solidFill>
                <a:latin typeface="Malgun Gothic"/>
              </a:rPr>
              <a:t>대상을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편마비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중심에서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침대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생활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신경근육질환·척수손상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사용자까지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넓혀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, 더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많은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접근성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사각지대의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시급한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문제를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함께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b="0" dirty="0" err="1">
                <a:solidFill>
                  <a:srgbClr val="1F2933"/>
                </a:solidFill>
                <a:latin typeface="Malgun Gothic"/>
              </a:rPr>
              <a:t>다룹니다</a:t>
            </a:r>
            <a:r>
              <a:rPr b="0" dirty="0">
                <a:solidFill>
                  <a:srgbClr val="1F2933"/>
                </a:solidFill>
                <a:latin typeface="Malgun Gothic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874519"/>
            <a:ext cx="3575304" cy="3246120"/>
          </a:xfrm>
          <a:prstGeom prst="roundRect">
            <a:avLst>
              <a:gd name="adj" fmla="val 3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62856" y="2130551"/>
            <a:ext cx="502920" cy="502920"/>
          </a:xfrm>
          <a:prstGeom prst="ellipse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213055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70631"/>
            <a:ext cx="30632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82C43"/>
                </a:solidFill>
                <a:latin typeface="Malgun Gothic"/>
              </a:rPr>
              <a:t>신규성 · 참신성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227831"/>
            <a:ext cx="306324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>
                <a:solidFill>
                  <a:srgbClr val="1F2933"/>
                </a:solidFill>
                <a:latin typeface="Malgun Gothic"/>
              </a:rPr>
              <a:t>‘이동식 하이브리드’ 구조를 ‘고정형 + BANK 전환’ 구조로 전환 — 표준 키보드, 상용 한 손 키보드, SW 방식 어디에도 없는 접근입니다.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874519"/>
            <a:ext cx="3575304" cy="3246120"/>
          </a:xfrm>
          <a:prstGeom prst="roundRect">
            <a:avLst>
              <a:gd name="adj" fmla="val 3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0" y="2130551"/>
            <a:ext cx="502920" cy="502920"/>
          </a:xfrm>
          <a:prstGeom prst="ellipse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13055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70631"/>
            <a:ext cx="30632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82C43"/>
                </a:solidFill>
                <a:latin typeface="Malgun Gothic"/>
              </a:rPr>
              <a:t>주제 부합성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27831"/>
            <a:ext cx="306324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>
                <a:solidFill>
                  <a:srgbClr val="1F2933"/>
                </a:solidFill>
                <a:latin typeface="Malgun Gothic"/>
              </a:rPr>
              <a:t>드라이버 설치 없이 표준 HID로 동작하는 하드웨어 보조기기로, 해커톤 주제인 ‘컴퓨터 및 전자기기 접근성 보조기기’에 정확히 부합합니다.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94960"/>
            <a:ext cx="11274552" cy="65836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</a:rPr>
              <a:t>평가표 1. 개발 필요성(30%) = 중요성(10) + 신규성(10) + 주제부합성(10) — 세 항목 모두에 대응하는 수정입니다.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Malgun Gothic"/>
              </a:rPr>
              <a:t>제7회 국립재활원 보조기기 해커톤 · 팀 딸깍 · 신청서 수정사항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컨셉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한줄소개</a:t>
            </a: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i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‘인체공학적 버티컬 구조’와 ‘트랙볼 기반 통합 제어’를 핵심으로 하는 한 손 전용 하이브리드 입력장치 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43016" y="2834640"/>
            <a:ext cx="502920" cy="54864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7F1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i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한 </a:t>
            </a:r>
            <a:r>
              <a:rPr lang="en-US" sz="2000" b="1" i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r>
              <a:rPr lang="ko-KR" altLang="en-US" sz="2000" b="1" i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</a:t>
            </a:r>
            <a:r>
              <a:rPr lang="en-US" sz="2000" b="1" i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i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잔존</a:t>
            </a:r>
            <a:r>
              <a:rPr lang="en-US" sz="2000" b="1" i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i="1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</a:t>
            </a:r>
            <a:r>
              <a:rPr lang="ko-KR" altLang="en-US" sz="2000" b="1" i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2000" b="1" i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i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움직임으로 키보드와 마우스를 통합 제어하는 고정형 입력장치 ”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48006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변화 :  ‘이동식·하이브리드’ 조작 방식에서 → 사용자의 잔존 움직임에 맞춰 ‘고정된 위치’를 전제로 한 설계로 전환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문제정의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</a:t>
            </a:r>
            <a:r>
              <a:rPr lang="en-US" sz="2600" b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대상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902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후 편마비, </a:t>
            </a:r>
            <a:r>
              <a:rPr lang="en-US" dirty="0" err="1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상지</a:t>
            </a: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 err="1" smtClean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절단</a:t>
            </a: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 smtClean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손만 자유롭게 사용 가능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책상·노트북 환경에서 키보드↔마우스 왕복 이동이 문제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E7F1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675120" y="194767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75120" y="19476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3524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</a:t>
            </a:r>
            <a:r>
              <a:rPr lang="en-US" sz="1400" b="1" dirty="0" smtClean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신경근육질환, 척수손상 등으로 체간·어깨·팔 움직임이 제한된 사용자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전동침대에서 장시간 반누운 자세로 컴퓨터 사용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 위 평면 부족, 자세 변화 시 장치 위치가 흐트러짐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4E4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5120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4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손가락의 신뢰할 수 있는 움직임이 없는 사용자는 본 시제품의 1차 대상이 아님을 명시함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문제정의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</a:t>
            </a:r>
            <a:r>
              <a:rPr lang="en-US" sz="2600" b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897880" y="1701027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E7F1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17920" y="1957059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17920" y="1957059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78040" y="195705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</a:t>
            </a:r>
            <a:r>
              <a:rPr lang="en-US" sz="1400" b="1" dirty="0" smtClean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478267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신경근육질환, 척수손상 등으로 체간·어깨·팔 움직임이 제한된 사용자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전동침대에서 장시간 반누운 자세로 컴퓨터 사용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 위 평면 부족, 자세 변화 시 장치 위치가 흐트러짐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4E4D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5120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4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손가락의 신뢰할 수 있는 움직임이 없는 사용자는 본 시제품의 1차 대상이 아님을 명시함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" y="1691640"/>
            <a:ext cx="4226052" cy="320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8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문제정의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‘무엇이 병목인가’에 </a:t>
            </a:r>
            <a:r>
              <a:rPr lang="en-US" sz="2600" b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</a:t>
            </a: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b="1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</a:t>
            </a:r>
            <a:r>
              <a:rPr 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74552" cy="1417320"/>
          </a:xfrm>
          <a:prstGeom prst="roundRect">
            <a:avLst>
              <a:gd name="adj" fmla="val 5806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55320" y="1975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관점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498344"/>
            <a:ext cx="6702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= 커서 제어와 문자 입력 사이를 오가는 “모드 전환 비용”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92160" y="1988312"/>
            <a:ext cx="2431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r>
              <a:rPr lang="en-US" sz="16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r>
              <a:rPr lang="en-US" sz="1600" dirty="0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장치에서 </a:t>
            </a:r>
            <a:r>
              <a:rPr lang="en-US" sz="1600" dirty="0" err="1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떼지</a:t>
            </a:r>
            <a:r>
              <a:rPr lang="en-US" sz="16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않고</a:t>
            </a:r>
            <a:endParaRPr lang="en-US" sz="1600" dirty="0" smtClean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r>
              <a:rPr lang="en-US" sz="1600" dirty="0" err="1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</a:t>
            </a:r>
            <a:r>
              <a:rPr lang="en-US" sz="1600" dirty="0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sz="1600" dirty="0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 smtClean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38444" y="3255264"/>
            <a:ext cx="512064" cy="365760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3621024"/>
            <a:ext cx="11274552" cy="1417320"/>
          </a:xfrm>
          <a:prstGeom prst="roundRect">
            <a:avLst>
              <a:gd name="adj" fmla="val 5806"/>
            </a:avLst>
          </a:prstGeom>
          <a:solidFill>
            <a:srgbClr val="E7F1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532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관점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7240" y="4257040"/>
            <a:ext cx="6702552" cy="593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= 팔을 들어 입력면에 접근하고, 키보드·마우스 사이를 반복 이동해야 하는 것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86800" y="3813048"/>
            <a:ext cx="1842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r>
              <a:rPr lang="en-US" sz="1600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r>
              <a:rPr lang="en-US" sz="1600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장치를 </a:t>
            </a:r>
            <a:r>
              <a:rPr lang="en-US" sz="1600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</a:t>
            </a:r>
            <a:r>
              <a:rPr lang="en-US" sz="1600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놓이는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 err="1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r>
              <a:rPr lang="en-US" sz="1600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·각도에</a:t>
            </a:r>
            <a:r>
              <a:rPr lang="en-US" sz="1600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11480"/>
            <a:ext cx="1499616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4996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02 · 문제정의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082C43"/>
                </a:solidFill>
                <a:latin typeface="Malgun Gothic"/>
              </a:rPr>
              <a:t>기존 대안 대비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B78"/>
                </a:solidFill>
                <a:latin typeface="Malgun Gothic"/>
              </a:rPr>
              <a:t>표준 입력장치, 상용 한 손 키보드, 소프트웨어 방식이 남긴 한계를 함께 해소하는 지점에 신규성이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기존 대안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37360"/>
            <a:ext cx="4233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본 제품의 접근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65040"/>
            <a:ext cx="2103120" cy="247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F2933"/>
                </a:solidFill>
                <a:latin typeface="Malgun Gothic"/>
              </a:rPr>
              <a:t>표준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키보드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+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마우스</a:t>
            </a:r>
            <a:endParaRPr sz="1400" b="0" dirty="0">
              <a:solidFill>
                <a:srgbClr val="1F2933"/>
              </a:solidFill>
              <a:latin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2541160"/>
            <a:ext cx="4206240" cy="495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3"/>
                </a:solidFill>
                <a:latin typeface="Malgun Gothic"/>
              </a:rPr>
              <a:t>왕복 이동이 반복 부하가 되고, 드래그·조합 단축키는 사실상 수행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65040"/>
            <a:ext cx="4233672" cy="247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손 이동 없이 커서 제어와 문자 입력을 동시에 수행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11274552" cy="109728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62320"/>
            <a:ext cx="2103120" cy="247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3"/>
                </a:solidFill>
                <a:latin typeface="Malgun Gothic"/>
              </a:rPr>
              <a:t>상용 한 손 전용 키보드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38440"/>
            <a:ext cx="4206240" cy="495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3"/>
                </a:solidFill>
                <a:latin typeface="Malgun Gothic"/>
              </a:rPr>
              <a:t>포인팅 기능이 없어 마우스가 별도로 필요, 고가·국내 유통/AS 제한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762320"/>
            <a:ext cx="4233672" cy="247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트랙볼 통합 + 도면·펌웨어 공개로 저비용 자가 제작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859600"/>
            <a:ext cx="2103120" cy="247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3"/>
                </a:solidFill>
                <a:latin typeface="Malgun Gothic"/>
              </a:rPr>
              <a:t>SW 방식(화상 키보드 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735720"/>
            <a:ext cx="4206240" cy="495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933"/>
                </a:solidFill>
                <a:latin typeface="Malgun Gothic"/>
              </a:rPr>
              <a:t>설치 권한이 없는 회사·학교·공공기관 PC에서는 사용 불가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859600"/>
            <a:ext cx="4233672" cy="247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드라이버 없는 표준 HID로 연결 즉시 인식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23560"/>
            <a:ext cx="11274552" cy="5943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</a:rPr>
              <a:t>핵심 차별점 : 손이 장치를 벗어나지 않는 ‘고정형’ 구조는 기존 제품·SW 대안에 없는 접근입니다.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Malgun Gothic"/>
              </a:rPr>
              <a:t>제7회 국립재활원 보조기기 해커톤 · 팀 딸깍 · 신청서 수정사항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</a:rPr>
              <a:t>설계 변경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965960"/>
          </a:xfrm>
          <a:prstGeom prst="roundRect">
            <a:avLst>
              <a:gd name="adj" fmla="val 4186"/>
            </a:avLst>
          </a:prstGeom>
          <a:solidFill>
            <a:srgbClr val="E7F1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920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① 본체: </a:t>
            </a:r>
            <a:r>
              <a:rPr lang="en-US" b="1" dirty="0" err="1"/>
              <a:t>고정형</a:t>
            </a:r>
            <a:endParaRPr lang="en-US" b="1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0954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/>
              <a:t>마우스처럼 손으로 밀어서 움직이는 </a:t>
            </a:r>
            <a:r>
              <a:rPr lang="en-US" dirty="0" err="1"/>
              <a:t>방식이</a:t>
            </a:r>
            <a:r>
              <a:rPr lang="en-US" dirty="0"/>
              <a:t> </a:t>
            </a:r>
            <a:r>
              <a:rPr lang="en-US" dirty="0" err="1"/>
              <a:t>아니라</a:t>
            </a:r>
            <a:r>
              <a:rPr lang="en-US" dirty="0"/>
              <a:t> </a:t>
            </a:r>
            <a:r>
              <a:rPr lang="ko-KR" altLang="en-US" dirty="0"/>
              <a:t>책상</a:t>
            </a:r>
            <a:r>
              <a:rPr lang="en-US" altLang="ko-KR" dirty="0"/>
              <a:t>,</a:t>
            </a:r>
            <a:r>
              <a:rPr lang="en-US" dirty="0"/>
              <a:t> </a:t>
            </a:r>
            <a:r>
              <a:rPr lang="en-US" dirty="0" err="1"/>
              <a:t>침대</a:t>
            </a:r>
            <a:r>
              <a:rPr lang="en-US" dirty="0"/>
              <a:t> </a:t>
            </a:r>
            <a:r>
              <a:rPr lang="en-US" dirty="0" err="1"/>
              <a:t>테이블</a:t>
            </a:r>
            <a:r>
              <a:rPr lang="en-US" dirty="0"/>
              <a:t> </a:t>
            </a:r>
            <a:r>
              <a:rPr lang="ko-KR" altLang="en-US" dirty="0"/>
              <a:t>등</a:t>
            </a:r>
            <a:r>
              <a:rPr lang="en-US" dirty="0"/>
              <a:t>에 고정하는 구조로 변경. 손을 강하게 쥐지 않아도 위치가 유지되도록 손등 밴드 또는 측면 가이드로 미끄러짐·이탈을 방지합니다.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11274552" cy="1965960"/>
          </a:xfrm>
          <a:prstGeom prst="roundRect">
            <a:avLst>
              <a:gd name="adj" fmla="val 4186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추가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41605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② 지지부 (BANK 전환 구조)</a:t>
            </a:r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10954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/>
              <a:t>전투기 조종간처럼 본체 전체를 좌우로 눕혀 키보드 뱅크(BANK A / B)를 전환하는 구조를 새로 추가. 네 손가락 스위치는 기존 ‘다방향 스위치’에서 ‘토글 스위치’ 방식으로 변경했습니다.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디자인 레퍼런스 추가 : Azeron Cyborg II (azeron.com)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</a:t>
            </a: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예상도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66"/>
          <a:stretch/>
        </p:blipFill>
        <p:spPr>
          <a:xfrm>
            <a:off x="3800421" y="103042"/>
            <a:ext cx="5734196" cy="664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5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</a:t>
            </a:r>
            <a:r>
              <a:rPr 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BANK </a:t>
            </a:r>
            <a:r>
              <a:rPr lang="en-US" sz="2600" b="1" dirty="0" err="1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sz="26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20462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기울임으로 선택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85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4~5° 기울이면 BANK A, 오른쪽 4~5° 기울이면 BANK B 선택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3776472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7F1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40853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스프링 복귀 · 상태 유지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5938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놓으면 스프링으로 중앙 복귀하되, 선택된 BANK는 유지되며 LED 색상·짧은 진동으로 표시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59436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 키로 영문 → 한글 → 숫자·기호 순으로 입력 모드 전환 (신규 추가)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20" r="131" b="63067"/>
          <a:stretch/>
        </p:blipFill>
        <p:spPr>
          <a:xfrm>
            <a:off x="6080760" y="1975104"/>
            <a:ext cx="5835293" cy="33952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</a:t>
            </a:r>
            <a:r>
              <a:rPr lang="ko-KR" altLang="en-US" sz="2600" b="1" dirty="0" smtClean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방식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57200" y="1728216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1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037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손가락당 3동작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257657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하나마다 위로 밀기 / 누르기 / 아래로 밀기 3동작을 인식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7F1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4076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C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입력키 수 확장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" y="46156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손가락 토글 4개 × 3동작 × 2 BANK = 24키 + 엄지 보조키 → 총 26키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59436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59436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 키로 영문 → 한글 → 숫자·기호 순으로 입력 모드 전환 (신규 추가)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20" t="37136"/>
          <a:stretch/>
        </p:blipFill>
        <p:spPr>
          <a:xfrm>
            <a:off x="6067044" y="137520"/>
            <a:ext cx="5774436" cy="5701071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37" b="17090" l="87500" r="96224"/>
                    </a14:imgEffect>
                  </a14:imgLayer>
                </a14:imgProps>
              </a:ext>
            </a:extLst>
          </a:blip>
          <a:srcRect l="87226" t="3012" r="2622" b="84139"/>
          <a:stretch/>
        </p:blipFill>
        <p:spPr>
          <a:xfrm>
            <a:off x="9331382" y="3875024"/>
            <a:ext cx="576211" cy="48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06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959" y="-1"/>
            <a:ext cx="10027328" cy="6684885"/>
          </a:xfrm>
          <a:prstGeom prst="rect">
            <a:avLst/>
          </a:prstGeom>
        </p:spPr>
      </p:pic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 · 팀 딸깍 · 신청서 수정사항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49681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1148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83739"/>
            <a:ext cx="1600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 smtClean="0">
                <a:solidFill>
                  <a:srgbClr val="FFFFFF"/>
                </a:solidFill>
                <a:latin typeface="Malgun Gothic"/>
              </a:rPr>
              <a:t>0</a:t>
            </a:r>
            <a:r>
              <a:rPr lang="en-US" sz="1200" b="1" dirty="0" smtClean="0">
                <a:solidFill>
                  <a:srgbClr val="FFFFFF"/>
                </a:solidFill>
                <a:latin typeface="Malgun Gothic"/>
              </a:rPr>
              <a:t>4</a:t>
            </a:r>
            <a:r>
              <a:rPr sz="1200" b="1" dirty="0" smtClean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dirty="0">
                <a:solidFill>
                  <a:srgbClr val="FFFFFF"/>
                </a:solidFill>
                <a:latin typeface="Malgun Gothic"/>
              </a:rPr>
              <a:t>· </a:t>
            </a:r>
            <a:r>
              <a:rPr sz="1200" b="1" dirty="0" err="1">
                <a:solidFill>
                  <a:srgbClr val="FFFFFF"/>
                </a:solidFill>
                <a:latin typeface="Malgun Gothic"/>
              </a:rPr>
              <a:t>향후</a:t>
            </a:r>
            <a:r>
              <a:rPr sz="1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Malgun Gothic"/>
              </a:rPr>
              <a:t>계획</a:t>
            </a:r>
            <a:endParaRPr sz="12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082C43"/>
                </a:solidFill>
                <a:latin typeface="Malgun Gothic"/>
              </a:rPr>
              <a:t>실현 가능성 및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6B78"/>
                </a:solidFill>
                <a:latin typeface="Malgun Gothic"/>
              </a:rPr>
              <a:t>팀이 이미 보유한 제작 경험을 바탕으로, 해커톤 기간 내 완성과 이후 확산까지 계획합니다.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3575304" cy="3246120"/>
          </a:xfrm>
          <a:prstGeom prst="roundRect">
            <a:avLst>
              <a:gd name="adj" fmla="val 3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2130551"/>
            <a:ext cx="502920" cy="502920"/>
          </a:xfrm>
          <a:prstGeom prst="ellipse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3055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70631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82C43"/>
                </a:solidFill>
                <a:latin typeface="Malgun Gothic"/>
              </a:rPr>
              <a:t>제작 준비도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27831"/>
            <a:ext cx="3063240" cy="1034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F2933"/>
                </a:solidFill>
                <a:latin typeface="Malgun Gothic"/>
              </a:rPr>
              <a:t>팀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전원이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ESP32·ATmega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기반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임베디드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설계와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PCB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설계·시제품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제작을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완주한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경험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보유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→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해커톤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기간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내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실제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동작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시제품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완성</a:t>
            </a:r>
            <a:r>
              <a:rPr sz="1400" b="0" dirty="0">
                <a:solidFill>
                  <a:srgbClr val="1F2933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algun Gothic"/>
              </a:rPr>
              <a:t>가능</a:t>
            </a:r>
            <a:endParaRPr sz="1400" b="0" dirty="0">
              <a:solidFill>
                <a:srgbClr val="1F2933"/>
              </a:solidFill>
              <a:latin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06824" y="1874519"/>
            <a:ext cx="3575304" cy="3246120"/>
          </a:xfrm>
          <a:prstGeom prst="roundRect">
            <a:avLst>
              <a:gd name="adj" fmla="val 3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62856" y="2130551"/>
            <a:ext cx="502920" cy="502920"/>
          </a:xfrm>
          <a:prstGeom prst="ellipse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213055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70631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82C43"/>
                </a:solidFill>
                <a:latin typeface="Malgun Gothic"/>
              </a:rPr>
              <a:t>검증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227831"/>
            <a:ext cx="3063240" cy="775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933"/>
                </a:solidFill>
                <a:latin typeface="Malgun Gothic"/>
              </a:rPr>
              <a:t>페르소나 목표치인 분당 100타 이상, 90분 이상 연속 작업 가능 여부를 기준으로 자체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874519"/>
            <a:ext cx="3575304" cy="3246120"/>
          </a:xfrm>
          <a:prstGeom prst="roundRect">
            <a:avLst>
              <a:gd name="adj" fmla="val 3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0" y="2130551"/>
            <a:ext cx="502920" cy="502920"/>
          </a:xfrm>
          <a:prstGeom prst="ellipse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13055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70631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82C43"/>
                </a:solidFill>
                <a:latin typeface="Malgun Gothic"/>
              </a:rPr>
              <a:t>공개 · 확산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27831"/>
            <a:ext cx="3063240" cy="1034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F2933"/>
                </a:solidFill>
                <a:latin typeface="Malgun Gothic"/>
              </a:rPr>
              <a:t>완성 후 3D 프린팅 도면과 펌웨어를 공개해 사용자가 저비용으로 직접 제작하고 자신의 신체 조건에 맞게 수정할 수 있도록 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94960"/>
            <a:ext cx="11274552" cy="65836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</a:rPr>
              <a:t>목표 : 개념 검증에 그치지 않고, 해커톤 기간 내 실사용 가능한 시제품을 완성합니다.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B78"/>
                </a:solidFill>
                <a:latin typeface="Malgun Gothic"/>
              </a:rPr>
              <a:t>제7회 국립재활원 보조기기 해커톤 · 팀 딸깍 · 신청서 수정사항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5A6B78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수정본 핵심 변경사항 요약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이동식 하이브리드 → 손 위치에 고정되는 고정형 입력장치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90779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9077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사용자 중심 → 침대 사용 신경근육질환자까지 대상 확장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62102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36210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뇌졸중 편마비 사무직(47세) → 신경근육질환 재택근무자(35세)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334256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3342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43342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지지부 신설로 BANK A/B 전환 구조 구현, 스위치 방식 변경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047488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0474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5047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제어부를 ESP32-S3 → Seeed XIAO nRF52840 Plus로 교체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딸깍 · 제7회 국립재활원 보조기기 해커톤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9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제7회 국립재활원 보조기기 해커톤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4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감사합니다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‘딸깍’ </a:t>
            </a:r>
            <a:r>
              <a:rPr lang="en-US" altLang="ko-KR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발표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smtClean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김민섭 </a:t>
            </a: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윤홍민 · 장재원 · 김예진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67944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1270</Words>
  <Application>Microsoft Office PowerPoint</Application>
  <PresentationFormat>와이드스크린</PresentationFormat>
  <Paragraphs>185</Paragraphs>
  <Slides>16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김민섭</cp:lastModifiedBy>
  <cp:revision>26</cp:revision>
  <dcterms:created xsi:type="dcterms:W3CDTF">2026-08-08T11:10:37Z</dcterms:created>
  <dcterms:modified xsi:type="dcterms:W3CDTF">2026-08-09T02:46:46Z</dcterms:modified>
</cp:coreProperties>
</file>